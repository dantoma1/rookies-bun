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3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63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49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8850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0120" y="566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Partnership Proposal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</a:t>
            </a:r>
            <a:r>
              <a:rPr lang="en-US" sz="44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Tilburg University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39" y="4389120"/>
            <a:ext cx="1050253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complementary platform built for students, employers, and TiU career services. A six-month parallel pilot proposal.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5486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B0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Mick Timmermans &amp; </a:t>
            </a:r>
            <a:r>
              <a:rPr lang="en-US" sz="1200" dirty="0">
                <a:solidFill>
                  <a:srgbClr val="C8CDD6"/>
                </a:solidFill>
                <a:latin typeface="Calibri" pitchFamily="34" charset="0"/>
                <a:cs typeface="Calibri" pitchFamily="34" charset="-120"/>
              </a:rPr>
              <a:t>Herbert Hamers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760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Toma Poenaru, Founder · with the academic guidance of Prof. Cristian Dobre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ROOKIES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started by raising the TiU flag at 5,400 meters. Now we want to do the same for the students who carry it next — at every step they take.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9377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data, the guidance, and the platform every transition deserves.</a:t>
            </a:r>
            <a:endParaRPr lang="en-US" sz="1600" dirty="0"/>
          </a:p>
        </p:txBody>
      </p:sp>
      <p:pic>
        <p:nvPicPr>
          <p:cNvPr id="5" name="Image 0" descr="/sessions/blissful-exciting-pasteur/mnt/outputs/evere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371600"/>
            <a:ext cx="585216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0" y="4846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EVEREST BASE CAMP · 5,400M · 9 APRIL 2024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at TiU know the same twenty companies.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Brabant SMEs that hire don't know how to reach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440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73152" cy="338328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SEE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set of recognizable employers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Big-name corporates dominate visibility because they pay platform premium tiers. Boutique firms and SMEs that would hire TiU students never appear in front of them. Students experience this as: "there are jobs, but only the same twenty companies keep showing up."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697480"/>
            <a:ext cx="5349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2697480"/>
            <a:ext cx="73152" cy="338328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246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structural pricing problem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92240" y="397764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career platforms monetize companies. Their pricing locks SMEs out by design — free posting tiers are gated to a handful of slots; premium is built for firms with 5+ hires per year. The result: small employers with real hiring needs cannot afford to be visible, and students lose access to the best part of the actual job market.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audiences, one platform.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Rookies from existing platforms is not features — it is whom we design for.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703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703320" cy="914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discovery surface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presented by relevance. SMEs that other platforms hide are surfaced by default. The platform stays with them, past placement. Mobile-native, profile-driven, no opt-in walls.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0832" y="2606040"/>
            <a:ext cx="3703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70832" y="2606040"/>
            <a:ext cx="3703320" cy="9144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45152" y="2926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EMPLOYERS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45152" y="3246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Direct, frictionless reach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45152" y="393192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reach the right TiU students directly — ranked, transparent, one-click invite-to-apply. Small employers post freely without artificial caps. The platform Brabant boutique firms can actually use.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93024" y="2606040"/>
            <a:ext cx="3703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93024" y="2606040"/>
            <a:ext cx="3703320" cy="9144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67344" y="2926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CAREER SERVICES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67344" y="3246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console for your team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67344" y="393192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designed for daily 1-on-1 work. Match Analyzer turns advising sessions into coached conversations. Market Pulse keeps officers current. The platform supports the human work, never replaces it.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doesn't replace the human work — it makes it sharper.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39" y="457200"/>
            <a:ext cx="41365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WHAT MAKES ROOKIES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structural advantages.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cs typeface="Calibri" pitchFamily="34" charset="-120"/>
              </a:rPr>
              <a:t>Five deliberate design choices, made early. The pages that follow take them one at a time.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73152" cy="658368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587752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56032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at the core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263640" y="256032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match-first platform: designed around how students and employers actually search, with the engine present from day 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73152" cy="658368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310128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2826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Skills-gap intelligence for </a:t>
            </a:r>
            <a:r>
              <a:rPr lang="en-US" sz="1550" b="1" dirty="0" err="1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TiU’s</a:t>
            </a:r>
            <a:r>
              <a:rPr lang="en-US" sz="15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management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263640" y="3282696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on what employers search for vs. what TiU students have, to support accreditation, rankings, and strategic positioning.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73152" cy="658368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03250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00507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accessibility — solving the supply problem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263640" y="400507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posting fixes the structural reason students see only the same twenty firms.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3600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4636008"/>
            <a:ext cx="73152" cy="658368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54480" y="472744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outreach + Career Officer Console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263640" y="472744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reach the right candidates directly. Career officers get a coaching console for 1-on-1 sessions.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35838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5358384"/>
            <a:ext cx="73152" cy="658368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5477256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554480" y="544982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Longitudinal outcome tracking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263640" y="544982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signal continues past the application. Monthly and yearly data on which skills and paths actually deliver outcomes.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at the core.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from day one — and continuously improved.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40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73152" cy="3291840"/>
          </a:xfrm>
          <a:prstGeom prst="rect">
            <a:avLst/>
          </a:prstGeom>
          <a:solidFill>
            <a:srgbClr val="8A8F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APPROACH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Search-and-filter, scoring optional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cs typeface="Calibri" pitchFamily="34" charset="-120"/>
              </a:rPr>
              <a:t>Students browse a feed and filter by tags — no relevance signal indicating which roles actually fit them.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Matching, when offered, sits as an additional capability rather than the core experience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Recruiter-side only — students don't see how they align with a role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468880"/>
            <a:ext cx="5349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2468880"/>
            <a:ext cx="73152" cy="329184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Match-first experience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92240" y="365760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 present across the platform, available to every user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Bidirectional: students see roles by relevance, employers see candidates the same way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match shows where the alignment sits: no black-box list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Skills-gap intelligence for TiU's management.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employers actually search for, in real time, vs. what TiU students have. Strategic data — not engagement metrics.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surface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6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skills employers searched at TiU this month, ranked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 skills wanted vs. skills present in TiU profiles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Sector-level demand trends — Technology, Finance, Sustainability, etc.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Profile-completeness distribution — investment-readiness across cohorts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funnel — profile → application → shortlisted → accepted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6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supports TiU's management on accreditation reviews, rankings submissions, and external positioning.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2377440"/>
            <a:ext cx="5486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55080" y="25420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UNMET SKILLS — TiU, MAY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55080" y="29718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3218688"/>
            <a:ext cx="1810512" cy="16459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16152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22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55080" y="3520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3566160"/>
            <a:ext cx="3209544" cy="16459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55280" y="3767328"/>
            <a:ext cx="905256" cy="16459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161520" y="3520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11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40690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4114800"/>
            <a:ext cx="2715768" cy="16459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0" y="4315968"/>
            <a:ext cx="1481328" cy="16459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161520" y="4069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18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4617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4663440"/>
            <a:ext cx="2304288" cy="16459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955280" y="4864608"/>
            <a:ext cx="1152144" cy="16459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161520" y="4617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14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5166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5212080"/>
            <a:ext cx="2139696" cy="16459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955280" y="5413248"/>
            <a:ext cx="1563624" cy="16459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161520" y="51663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19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5760720"/>
            <a:ext cx="164592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65392" y="5696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demand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21040" y="5760720"/>
            <a:ext cx="164592" cy="13716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22208" y="5696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TiU students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6078585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— actual numbers populate once the TiU pilot runs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100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BB2D6B05-D129-1DD8-97EE-1FF5B229B3B1}"/>
              </a:ext>
            </a:extLst>
          </p:cNvPr>
          <p:cNvSpPr/>
          <p:nvPr/>
        </p:nvSpPr>
        <p:spPr>
          <a:xfrm>
            <a:off x="7955279" y="3022092"/>
            <a:ext cx="3331029" cy="16459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accessibility — solving the supply problem.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cs typeface="Calibri" pitchFamily="34" charset="-120"/>
              </a:rPr>
              <a:t>Open posting fixes the structural reason most SMEs never reach </a:t>
            </a:r>
            <a:r>
              <a:rPr lang="en-US" sz="1400" i="1" dirty="0" err="1">
                <a:solidFill>
                  <a:srgbClr val="555B6E"/>
                </a:solidFill>
                <a:latin typeface="Calibri" pitchFamily="34" charset="0"/>
                <a:cs typeface="Calibri" pitchFamily="34" charset="-120"/>
              </a:rPr>
              <a:t>TiU</a:t>
            </a: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cs typeface="Calibri" pitchFamily="34" charset="-120"/>
              </a:rPr>
              <a:t> students.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yr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NL free tier — postings per company across 4 institutions.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468880"/>
            <a:ext cx="3657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 is gated for employers with at least 5 hires per year.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468880"/>
            <a:ext cx="34747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66760" y="2651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77,000+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6676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in Brabant who don't fit either tier — and who usually don't post.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11064240" cy="178308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 — AND THE FIX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800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consulting firms, regional tech, sustainability orgs, mid-size industrials — most either don't post at all, or their listings get buried because well-capitalized corporates pay for promotion and dominate visibility. So TiU students see only the same well-funded names, whose roles funnel to the top of the cohort. Talent is distributed far wider than that, and so is the actual job market.</a:t>
            </a:r>
          </a:p>
        </p:txBody>
      </p:sp>
      <p:sp>
        <p:nvSpPr>
          <p:cNvPr id="17" name="Text 15"/>
          <p:cNvSpPr/>
          <p:nvPr/>
        </p:nvSpPr>
        <p:spPr>
          <a:xfrm>
            <a:off x="868680" y="5623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Rookies, small employers post freely without artificial caps. The structural fix — by design.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outreach + a Career Officer Console.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two-sided platform that adds a third surface designed specifically for your team's daily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406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440680" cy="7315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EMPLOYERS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Recruiters reach the right student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with intent — filter by year, field, location, work permit, Dutch only or not, and many more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active student visible — not an opt-in subset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scores — see how each candidate ranks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invite-to-apply with templated messages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514600"/>
            <a:ext cx="5349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2514600"/>
            <a:ext cx="5349240" cy="73152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CAREER SERVICES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063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console for your team's daily work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370332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Analyzer — pick a student + role; see gaps and coaching prompts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Pulse — what employers want this month, ranked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Path Explorer — what each role requires, where past students were placed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view </a:t>
            </a:r>
            <a:r>
              <a:rPr lang="en-US" sz="1300" dirty="0">
                <a:solidFill>
                  <a:srgbClr val="555B6E"/>
                </a:solidFill>
                <a:latin typeface="Calibri" pitchFamily="34" charset="0"/>
                <a:cs typeface="Calibri" pitchFamily="34" charset="-120"/>
              </a:rPr>
              <a:t>— at-risk students automatically flagged for proactive outreach</a:t>
            </a:r>
          </a:p>
        </p:txBody>
      </p:sp>
      <p:sp>
        <p:nvSpPr>
          <p:cNvPr id="15" name="Shape 1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makes your team's 1-on-1 work sharper — never replaces 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lose the signal at placement.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trail keeps going past hire. Year-over-year, TiU sees what skills and paths actually deliver outcomes.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trail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3136392"/>
            <a:ext cx="228600" cy="22860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8660" y="3355848"/>
            <a:ext cx="0" cy="338328"/>
          </a:xfrm>
          <a:prstGeom prst="line">
            <a:avLst/>
          </a:prstGeom>
          <a:noFill/>
          <a:ln w="1905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created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264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background, preferences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703320"/>
            <a:ext cx="228600" cy="22860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8660" y="3922776"/>
            <a:ext cx="0" cy="338328"/>
          </a:xfrm>
          <a:prstGeom prst="line">
            <a:avLst/>
          </a:prstGeom>
          <a:noFill/>
          <a:ln w="1905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3584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submitted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8313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went after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270248"/>
            <a:ext cx="228600" cy="22860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8660" y="4489704"/>
            <a:ext cx="0" cy="338328"/>
          </a:xfrm>
          <a:prstGeom prst="line">
            <a:avLst/>
          </a:prstGeom>
          <a:noFill/>
          <a:ln w="1905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151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43982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algorithm thought they'd fit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837176"/>
            <a:ext cx="228600" cy="22860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08660" y="5056632"/>
            <a:ext cx="0" cy="338328"/>
          </a:xfrm>
          <a:prstGeom prst="line">
            <a:avLst/>
          </a:prstGeom>
          <a:noFill/>
          <a:ln w="19050">
            <a:solidFill>
              <a:srgbClr val="E8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965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actually landed — even off-platform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5404104"/>
            <a:ext cx="228600" cy="228600"/>
          </a:xfrm>
          <a:prstGeom prst="ellipse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5285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skills and paths led to which roles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468880"/>
            <a:ext cx="5486400" cy="37490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26480" y="2468880"/>
            <a:ext cx="5486400" cy="7315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0" y="2697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TIU GETS, OVER TIME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1089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placement-outcome data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% of TiU students placed, where, in which roles, in what timeframe — for accreditation reviews and rankings.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Skills-to-placement evidence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skills correlated with successful placements last year? Which didn't? Curriculum committees finally have data instead of anecdotes.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drift over time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Year-over-year, what's gaining and what's cooling. See where the market is moving </a:t>
            </a:r>
            <a:r>
              <a:rPr lang="en-US" sz="1200" dirty="0">
                <a:solidFill>
                  <a:srgbClr val="C8CDD6"/>
                </a:solidFill>
                <a:latin typeface="Calibri" pitchFamily="34" charset="0"/>
                <a:cs typeface="Calibri" pitchFamily="34" charset="-120"/>
              </a:rPr>
              <a:t>— evidence in </a:t>
            </a:r>
            <a:r>
              <a:rPr lang="en-US" sz="1200" dirty="0" err="1">
                <a:solidFill>
                  <a:srgbClr val="C8CDD6"/>
                </a:solidFill>
                <a:latin typeface="Calibri" pitchFamily="34" charset="0"/>
                <a:cs typeface="Calibri" pitchFamily="34" charset="-120"/>
              </a:rPr>
              <a:t>TiU's</a:t>
            </a:r>
            <a:r>
              <a:rPr lang="en-US" sz="1200" dirty="0">
                <a:solidFill>
                  <a:srgbClr val="C8CDD6"/>
                </a:solidFill>
                <a:latin typeface="Calibri" pitchFamily="34" charset="0"/>
                <a:cs typeface="Calibri" pitchFamily="34" charset="-120"/>
              </a:rPr>
              <a:t> back pocket whenever curriculum or strategy questions come up.</a:t>
            </a:r>
          </a:p>
        </p:txBody>
      </p:sp>
      <p:sp>
        <p:nvSpPr>
          <p:cNvPr id="29" name="Shape 2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COMPLEMENT, NOT REPLACEMENT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Complement, not replacement.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JobTeaser keeps doing what it does well. Rookies fills the gaps it leaves open.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40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440680" cy="914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JOBTEASER STAYS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strengths · unchanged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802599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back-office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4087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solidFill>
                <a:srgbClr val="555B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579839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&amp; career-fair module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48646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5357079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 tools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5641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2468880"/>
            <a:ext cx="5440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72200" y="2468880"/>
            <a:ext cx="5440680" cy="9144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276148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ROOKIES FILLS 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0632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surface · structural gaps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46520" y="35587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3558757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at the core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3869653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Relevance-first across the platform — bidirectional, transparent.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413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58000" y="41356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 accessibility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44465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posting reaches the boutique employers.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475618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58000" y="475618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data for TiU's management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0" y="506707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demand vs. supply.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runs in parallel during the pilot. No workflow changes. Each system does what it's designed for.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1000" dirty="0"/>
          </a:p>
        </p:txBody>
      </p:sp>
      <p:sp>
        <p:nvSpPr>
          <p:cNvPr id="38" name="Text 26">
            <a:extLst>
              <a:ext uri="{FF2B5EF4-FFF2-40B4-BE49-F238E27FC236}">
                <a16:creationId xmlns:a16="http://schemas.microsoft.com/office/drawing/2014/main" id="{52908123-1997-154A-ECC6-D17DE17222E0}"/>
              </a:ext>
            </a:extLst>
          </p:cNvPr>
          <p:cNvSpPr/>
          <p:nvPr/>
        </p:nvSpPr>
        <p:spPr>
          <a:xfrm>
            <a:off x="6446520" y="539496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200" dirty="0"/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9A6E2B83-C644-18CD-99C4-097CB9E42FDF}"/>
              </a:ext>
            </a:extLst>
          </p:cNvPr>
          <p:cNvSpPr/>
          <p:nvPr/>
        </p:nvSpPr>
        <p:spPr>
          <a:xfrm>
            <a:off x="6858000" y="5394963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0F1F3D"/>
                </a:solidFill>
                <a:latin typeface="Cambria" pitchFamily="34" charset="0"/>
              </a:rPr>
              <a:t>The Career Officer Console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0" name="Text 28">
            <a:extLst>
              <a:ext uri="{FF2B5EF4-FFF2-40B4-BE49-F238E27FC236}">
                <a16:creationId xmlns:a16="http://schemas.microsoft.com/office/drawing/2014/main" id="{71151105-0995-4D7B-1447-BBD042A6BF19}"/>
              </a:ext>
            </a:extLst>
          </p:cNvPr>
          <p:cNvSpPr/>
          <p:nvPr/>
        </p:nvSpPr>
        <p:spPr>
          <a:xfrm>
            <a:off x="6858000" y="5705859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cs typeface="Calibri" pitchFamily="34" charset="-120"/>
              </a:rPr>
              <a:t>The job-market “bloodwork” </a:t>
            </a:r>
            <a:endParaRPr lang="en-US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BUILT FOR YOUR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Career Officer Console.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relevant feature for career services — designed around your team's daily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4864" cy="178308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77063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IN-SESSION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Analyzer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student, pick a target role. See the score, the per-category breakdown, and templated coaching prompts under every weak category. Turns 1-on-1 advising into structured, evidence-based conversation.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60604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26480" y="2606040"/>
            <a:ext cx="54864" cy="178308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5080" y="277063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SITUATIONAL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30175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Pulse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55080" y="338328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view of what employers searched for at TiU this month. Trending skills with month-over-month deltas. Hot roles. Sector demand. Career officers walk into sessions current on what's actually moving in the market.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54864" cy="178308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69087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STRATEGIC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Path Explorer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53035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role — see the skills employers want, the common backgrounds that placed there, the preparation that lifts an application. Anchor career-direction conversations in evidence rather than anecdote.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5262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4526280"/>
            <a:ext cx="54864" cy="178308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5080" y="469087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OPERATIONAL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49377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view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55080" y="53035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low profile completeness. Final-year cohorts with no applications submitted. At-risk students flagged for proactive outreach. Students with many applications but no interviews. Gives your team a triage queue, not just a dashboard.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DIRECT ANSWERS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Addressing the questions you raised.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direct answers.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73152" cy="11887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acquire companies?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pilot, hand-to-hand. Target: 20–30 named employer partners onboarded across the pilot, drawn from three channels — personal network, regional partners (BOM, Brabantse Werkgevers Vereniging, MKB Brabant), and TiU-adjacent firms that already recruit through Career Week. Past pilot: references, sector outreach, eventually some inbound. 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67328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767328"/>
            <a:ext cx="73152" cy="11887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9044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the back office set up? What support do you provide?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27024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pilot: founder-led, direct phone, as-soon-as-possible support on critical issues. We are not promising the 24/7 operational support of a 50-person </a:t>
            </a:r>
            <a:r>
              <a:rPr lang="en-US" sz="1200" dirty="0">
                <a:solidFill>
                  <a:srgbClr val="555B6E"/>
                </a:solidFill>
                <a:latin typeface="Calibri" pitchFamily="34" charset="0"/>
                <a:cs typeface="Calibri" pitchFamily="34" charset="-120"/>
              </a:rPr>
              <a:t>vendor team. Past pilot, if it's working, we'd grow the team to take support from founder-led to vendor-level. Today, we say what we can credibly deliver and stick to that.</a:t>
            </a:r>
          </a:p>
        </p:txBody>
      </p:sp>
      <p:sp>
        <p:nvSpPr>
          <p:cNvPr id="13" name="Shape 11"/>
          <p:cNvSpPr/>
          <p:nvPr/>
        </p:nvSpPr>
        <p:spPr>
          <a:xfrm>
            <a:off x="548640" y="5065776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5065776"/>
            <a:ext cx="73152" cy="118872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520293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we considered TiU's processes are aligned with the existing platform?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" y="5568696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and that's exactly why we're proposing a parallel pilot, not a switch. JobTeaser stays exactly where it is during the pilot. No workflow changes. No staff retraining. Rookies covers three specific gaps — matchmaking, SME accessibility and strategic data — that sit alongside, not on top of, the existing setup. After October, you decide whether the parallel layer earned its keep.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THE PILOT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proposing — concretely.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six-month parallel pilot. Free for TiU. No exclusivity. Bounded downside.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6576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657600" cy="9144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 → October*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late May. Active pilot: May–September. Retrospective: early October. Decision on continuation: late October.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468880"/>
            <a:ext cx="36576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43400" y="2468880"/>
            <a:ext cx="3657600" cy="9144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2788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TIU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during pilot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7490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TiU pays nothing during the pilot. No setup fees. No per-student fees. The post-pilot conversation is co-designed with TiU's management based on what the data shows, not anchored on numbers we set today.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468880"/>
            <a:ext cx="36576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38160" y="2468880"/>
            <a:ext cx="3657600" cy="9144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0" y="27889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3108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Parallel, not replacement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374904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platform stays in place. Existing workflows are unchanged. Rookies operates alongside, focused on matchmaking, SME accessibility and strategic data. Bounded downside — TiU can withdraw at any time.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agreed in writing with TiSEM up front: profiles, postings, applications, dashboard cadence, end-of-pilot NPS.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98D948-7F2D-4C29-33C3-9AA497C680C7}"/>
              </a:ext>
            </a:extLst>
          </p:cNvPr>
          <p:cNvSpPr txBox="1"/>
          <p:nvPr/>
        </p:nvSpPr>
        <p:spPr>
          <a:xfrm>
            <a:off x="548640" y="5552971"/>
            <a:ext cx="216190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solidFill>
                  <a:srgbClr val="555B6E"/>
                </a:solidFill>
                <a:latin typeface="Calibri" pitchFamily="34" charset="0"/>
                <a:cs typeface="Calibri" pitchFamily="34" charset="-120"/>
              </a:rPr>
              <a:t>*Extendable by mutual agreement if the data warrants more runway.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THE EXCHANGE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ask · what TiU gets.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ask in exchange for a bounded set of strategic deliverables.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40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440680" cy="9144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ASK OF TIU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partnership, not a transaction.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to display the TiU logo as founding-partner platform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short press release or news item if TiU is comfortable with one — nothing that requires staff effort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operational point of contact in your office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relevant employer relationships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with TiU's management on success-metric definition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514600"/>
            <a:ext cx="5349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2514600"/>
            <a:ext cx="5349240" cy="9144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TIU GETS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3108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data and a working tool.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92240" y="3794760"/>
            <a:ext cx="4937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Skills-gap intelligence dashboard for TiU's management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Officer Console for TiSEM career services' daily work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the SME and boutique-firm employer pool we onboard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Founding-partner status — early shaping of the platform's evolution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placement, engagement, demand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12648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funding · No exclusivity · No replacement of existing systems.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ABOUT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38143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behind this.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86809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founding team with operational roots inside </a:t>
            </a:r>
            <a:r>
              <a:rPr lang="en-US" sz="1400" i="1" dirty="0" err="1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TiU</a:t>
            </a:r>
            <a:r>
              <a:rPr lang="en-US" sz="14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TU/e.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0165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460165"/>
            <a:ext cx="5532120" cy="7315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917365"/>
            <a:ext cx="1280160" cy="12801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917365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377440" y="2963085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3237405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Toma Poenaru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377440" y="3740325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Business Analytics &amp; Operations Research,</a:t>
            </a:r>
          </a:p>
          <a:p>
            <a:pPr marL="0" indent="0" algn="l">
              <a:buNone/>
            </a:pPr>
            <a:r>
              <a:rPr lang="en-US" sz="12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International Business Administration</a:t>
            </a:r>
          </a:p>
          <a:p>
            <a:pPr marL="0" indent="0" algn="l">
              <a:buNone/>
            </a:pPr>
            <a:r>
              <a:rPr lang="en-US" sz="12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Tilburg University</a:t>
            </a: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l">
              <a:buNone/>
            </a:pPr>
            <a:endParaRPr lang="en-US" sz="1200" dirty="0">
              <a:solidFill>
                <a:srgbClr val="555B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lead during the pilot.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460165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9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17920" y="2460165"/>
            <a:ext cx="5532120" cy="73152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2917365"/>
            <a:ext cx="1280160" cy="12801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2917365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046720" y="2963085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ENGINEER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3237405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Tudor Octavian Poenaru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046720" y="3740325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Computer Science and Engineering,</a:t>
            </a:r>
          </a:p>
          <a:p>
            <a:pPr marL="0" indent="0" algn="l">
              <a:buNone/>
            </a:pPr>
            <a:r>
              <a:rPr lang="en-US" sz="1200" i="1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Eindhoven University of Technology.</a:t>
            </a:r>
          </a:p>
          <a:p>
            <a:pPr marL="0" indent="0" algn="l">
              <a:buNone/>
            </a:pPr>
            <a:endParaRPr lang="en-US" sz="1200" dirty="0">
              <a:solidFill>
                <a:srgbClr val="555B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555B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55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and product engineering. 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201400" cy="1051560"/>
          </a:xfrm>
          <a:prstGeom prst="rect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91440" cy="10515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5394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GUIDANCE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5641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Cristian Dobre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59710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Professor, Department of Econometrics and Operations Research · Master Academic Director, Business Analytics and Operations Research, TiSEM.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 — PARTNERSHIP PROPOSAL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8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steps we're asking for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B0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Small. Specific. No commitment beyond a conversation.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611880" cy="283464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3611880" cy="54864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written response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follow-up addressing any remaining questions.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51960" y="2926080"/>
            <a:ext cx="3611880" cy="283464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51960" y="2926080"/>
            <a:ext cx="3611880" cy="54864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32004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3520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management-level conversation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42062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makes sense to you, the next step is the conversation with </a:t>
            </a:r>
            <a:r>
              <a:rPr lang="en-US" sz="1250" dirty="0">
                <a:solidFill>
                  <a:srgbClr val="C8CDD6"/>
                </a:solidFill>
                <a:latin typeface="Calibri" pitchFamily="34" charset="0"/>
                <a:cs typeface="Calibri" pitchFamily="34" charset="-120"/>
              </a:rPr>
              <a:t>Herbert Hamers and TiU's managem</a:t>
            </a:r>
            <a:r>
              <a:rPr lang="en-US" sz="125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2926080"/>
            <a:ext cx="3611880" cy="283464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55280" y="2926080"/>
            <a:ext cx="3611880" cy="54864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0" y="32004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3520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pilot draft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420624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 dirty="0">
                <a:solidFill>
                  <a:srgbClr val="C8CDD6"/>
                </a:solidFill>
                <a:latin typeface="Calibri" pitchFamily="34" charset="0"/>
                <a:cs typeface="Calibri" pitchFamily="34" charset="-120"/>
              </a:rPr>
              <a:t>Your green light is the trigger. From there, we begin reinventing how </a:t>
            </a:r>
            <a:r>
              <a:rPr lang="en-US" sz="1250" dirty="0" err="1">
                <a:solidFill>
                  <a:srgbClr val="C8CDD6"/>
                </a:solidFill>
                <a:latin typeface="Calibri" pitchFamily="34" charset="0"/>
                <a:cs typeface="Calibri" pitchFamily="34" charset="-120"/>
              </a:rPr>
              <a:t>TiU's</a:t>
            </a:r>
            <a:r>
              <a:rPr lang="en-US" sz="1250" dirty="0">
                <a:solidFill>
                  <a:srgbClr val="C8CDD6"/>
                </a:solidFill>
                <a:latin typeface="Calibri" pitchFamily="34" charset="0"/>
                <a:cs typeface="Calibri" pitchFamily="34" charset="-120"/>
              </a:rPr>
              <a:t> talent meets the market.</a:t>
            </a:r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asking for funding. We're not asking for endorsement today. We're asking whether this is worth the next conversation.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0120" y="566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6583"/>
            <a:ext cx="11064240" cy="1602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ambria" pitchFamily="34" charset="0"/>
              </a:rPr>
              <a:t>“Travel like a human” was Airbnb's first conviction. “Find work like a human” is ours.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066506"/>
            <a:ext cx="11064240" cy="1456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i="1" dirty="0">
                <a:solidFill>
                  <a:srgbClr val="F0875A"/>
                </a:solidFill>
                <a:latin typeface="Cambria" pitchFamily="34" charset="0"/>
              </a:rPr>
              <a:t>Conversations like this are how those convictions turn into platforms.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the time, the questions, and the perspective.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Toma Poenaru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danpoenaru107@gmail.com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E8622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1686</TotalTime>
  <Words>2572</Words>
  <Application>Microsoft Macintosh PowerPoint</Application>
  <PresentationFormat>Widescreen</PresentationFormat>
  <Paragraphs>314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Rookies — Partnership Proposal for TiU</dc:title>
  <dc:subject>PptxGenJS Presentation</dc:subject>
  <dc:creator>Rookies</dc:creator>
  <cp:lastModifiedBy>Dan Poenaru</cp:lastModifiedBy>
  <cp:revision>19</cp:revision>
  <dcterms:created xsi:type="dcterms:W3CDTF">2026-05-06T12:26:13Z</dcterms:created>
  <dcterms:modified xsi:type="dcterms:W3CDTF">2026-05-07T20:10:47Z</dcterms:modified>
</cp:coreProperties>
</file>