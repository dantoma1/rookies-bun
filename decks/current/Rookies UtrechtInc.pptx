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62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86"/>
    <p:restoredTop sz="94610"/>
  </p:normalViewPr>
  <p:slideViewPr>
    <p:cSldViewPr snapToGrid="0" snapToObjects="1">
      <p:cViewPr varScale="1">
        <p:scale>
          <a:sx n="194" d="100"/>
          <a:sy n="194" d="100"/>
        </p:scale>
        <p:origin x="40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107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011680"/>
            <a:ext cx="5029200" cy="5029200"/>
          </a:xfrm>
          <a:prstGeom prst="ellipse">
            <a:avLst/>
          </a:prstGeom>
          <a:solidFill>
            <a:srgbClr val="E8622A">
              <a:alpha val="12000"/>
            </a:srgbClr>
          </a:solidFill>
          <a:ln w="12700">
            <a:solidFill>
              <a:srgbClr val="E862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1463040"/>
            <a:ext cx="3657600" cy="3657600"/>
          </a:xfrm>
          <a:prstGeom prst="ellipse">
            <a:avLst/>
          </a:prstGeom>
          <a:solidFill>
            <a:srgbClr val="E8622A">
              <a:alpha val="20000"/>
            </a:srgbClr>
          </a:solidFill>
          <a:ln w="12700">
            <a:solidFill>
              <a:srgbClr val="E862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kern="0" spc="-2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Rookie</a:t>
            </a:r>
            <a:r>
              <a:rPr lang="en-US" sz="9600" kern="0" spc="-200" dirty="0">
                <a:solidFill>
                  <a:srgbClr val="E9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</a:t>
            </a:r>
            <a:r>
              <a:rPr lang="en-US" sz="9600" kern="0" spc="-2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E2D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matching architecture for early-career hiring.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Pitch  · 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0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8AA1C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 · 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i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first job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i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 a </a:t>
            </a:r>
            <a:r>
              <a:rPr lang="en-US" sz="64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market.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DM Sans" pitchFamily="34" charset="0"/>
              </a:rPr>
              <a:t>And like any market, it only works when both sides can find each other. Today, they can't. We’re rebuilding the layer between them, from the mathematics up.</a:t>
            </a:r>
          </a:p>
        </p:txBody>
      </p:sp>
      <p:sp>
        <p:nvSpPr>
          <p:cNvPr id="7" name="Text 5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 · 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Rookies</a:t>
            </a:r>
            <a:r>
              <a:rPr lang="en-US" sz="20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Four ways the market breaks.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dysfunction isn't an accident — it's structural.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931920" cy="13258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54864" cy="13258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9842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visibility tax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3500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Today's job platforms are subscription-driven advertising marketplaces. The 424,000 NL SMEs that would fit a student lose to a handful of well-marketed brands every cohort.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874520"/>
            <a:ext cx="3931920" cy="13258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874520"/>
            <a:ext cx="54864" cy="13258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19842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One-sided scoring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23500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Existing platforms optimise for engagement, not for matching. Students filter by keyword; recruiters filter for keywords. Neither side's recommendation is informed by what the other side actually needs.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3931920" cy="13258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54864" cy="13258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355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 vs AI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7216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Applicants tailor CVs with AI. Recruiters screen them with AI. The two systems negotiate, neither has ever met the person at the centre. The market has reduced itself to a single prayer.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246120"/>
            <a:ext cx="3931920" cy="13258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54864" cy="13258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3355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Universities standing still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83480" y="37216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Career-office tooling was built before LLMs. No longitudinal tracking, no real-time labour-market view, no skills-gap intelligence. The institutions best positioned to fix the system can't see it.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/ 17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 ·  EVIDENCE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cost, in numbers.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the Dutch early-career market, today.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240280"/>
            <a:ext cx="208483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246888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-1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120+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applications per junior role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42032" y="2240280"/>
            <a:ext cx="208483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51760" y="246888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-1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79192" y="32918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recruiter time per CV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72584" y="2240280"/>
            <a:ext cx="208483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82312" y="246888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-1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 in 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09744" y="32918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applicants now use AI to apply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03136" y="2240280"/>
            <a:ext cx="208483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12864" y="246888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-1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 in 10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940296" y="32918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companies screen with AI in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Getting your first job has become a game of chance. It does not have to be.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/ 17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 ·  WHY 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Rookies</a:t>
            </a:r>
            <a:r>
              <a:rPr lang="en-US" sz="20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Three forces, converging this cohort.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conditions that make this problem solvable now did not exist eighteen months ago.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 has industrialised the dysfunction.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3500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Generative AI didn't solve matching; it scaled the failure. The cycle worsens with each new cohort. The cost of waiting is paid by the next graduating class.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188720" y="2880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EU AI Act now governs high-risk recruitment.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2644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Article 13 mandates per-pair transparency. Existing platforms can't deliver it. We are built to comply from day one, explainable scoring is the product, not a patch.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88720" y="3794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Universities are being asked questions they can't answer.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1788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Boards, faculty, and ministries need real-time outcome data. Career-office software from the pre-LLM era can't produce it. The first vendor that does becomes the default layer.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/ 17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 · 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i="1" kern="0" spc="-1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replace the architecture.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is a matching architecture, not a job board. We pair quantitative scoring with explainable AI reasoning, embed natively in Dutch universities, and build a longitudinal community of students whose career trajectories compound the system's intelligence over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2697480" cy="45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57759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Quantitative scoring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94335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Math first. Deterministic, auditable, fast.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352044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3520440"/>
            <a:ext cx="2697480" cy="45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357759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Reasoning-layer 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94335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AI Agent for the signal math can't capture, with a rationale per pair.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52044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09360" y="3520440"/>
            <a:ext cx="2697480" cy="45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0" y="357759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Longitudinal community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3940719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data that compounds. Each match teaches the system.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/ 17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 ·  VISUALISED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From spray to allocation.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students. The same companies. A different layer between them.</a:t>
            </a:r>
            <a:endParaRPr lang="en-US" sz="1300" dirty="0"/>
          </a:p>
        </p:txBody>
      </p:sp>
      <p:pic>
        <p:nvPicPr>
          <p:cNvPr id="6" name="Image 0" descr="/sessions/loving-bold-gates/mnt/outputs/deck/mockups/diagram-chao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874520"/>
            <a:ext cx="4114800" cy="2532185"/>
          </a:xfrm>
          <a:prstGeom prst="rect">
            <a:avLst/>
          </a:prstGeom>
        </p:spPr>
      </p:pic>
      <p:pic>
        <p:nvPicPr>
          <p:cNvPr id="7" name="Image 1" descr="/sessions/loving-bold-gates/mnt/outputs/deck/mockups/diagram-match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874520"/>
            <a:ext cx="4114800" cy="25321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452425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do not rank harder. We change what is being ranked.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/ 17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 ·  LINEAGE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Rookies</a:t>
            </a:r>
            <a:r>
              <a:rPr lang="en-US" sz="20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mathematics is published.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deployments are operational.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965960" cy="15544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1962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Gale &amp; Shapley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18211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Stable matching.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2194560"/>
            <a:ext cx="1965960" cy="15544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8892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1994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88920" y="2834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Nash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318211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Equilibrium in strategic markets.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194560"/>
            <a:ext cx="1965960" cy="15544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2012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937760" y="2834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Roth &amp; Shapley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18211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Nobel Prize — market design as engineering.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2194560"/>
            <a:ext cx="1965960" cy="15544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8660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2025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086600" y="2834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NRMP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318211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37,667 doctors placed in a single match.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Kidney exchange. School choice. Dynamic fleets. Moneyball. The early-career hiring market is the most prominent matching market that has not yet been redesigned.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/ 17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  ·  THE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Four layers no existing platform models together.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layer answers a different question. The combination is the product.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776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03911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0391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Hard skills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Linear optimisation over structured features. Deterministic, auditable, fast — the kind of math an EU regulator can read.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920240"/>
            <a:ext cx="39776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203911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23560" y="20391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Soft skills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92040" y="24231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AI Agent reads CVs, projects, and self-descriptions. Math stays primary; AI extends its reach with a rationale per score.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9776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41071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71600" y="34107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market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Pool-aware ranking via Roth-Shapley. Fit is not absolute — it depends on who else is in the pool, in real time.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291840"/>
            <a:ext cx="39776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341071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623560" y="34107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Community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892040" y="37947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Longitudinal cohorts. Events, content, post-placement feedback. Each match teaches the next. The moat compounds.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/ 17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  ·  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Rookies</a:t>
            </a:r>
            <a:r>
              <a:rPr lang="en-US" sz="20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Four products. One system.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sides of the market, finally pulling in the same direction.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931920" cy="13258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931920" cy="45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Matchmaking architecture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404872"/>
            <a:ext cx="3566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Quant + reasoning AI feeding a stable-matching algorithm. EU AI Act compliant by construction.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874520"/>
            <a:ext cx="3931920" cy="13258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874520"/>
            <a:ext cx="3931920" cy="45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20299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Career-services analytics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2404872"/>
            <a:ext cx="3566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outcomes, skills-gap intelligence, board-ready reports — the first such tooling in Dutch higher education.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3931920" cy="13258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3931920" cy="45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4015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SME &amp; startup visibility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776472"/>
            <a:ext cx="3566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for every Dutch employer. Visibility set by match quality, not by paid placement. 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246120"/>
            <a:ext cx="3931920" cy="13258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3931920" cy="45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34015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Recruiter outreach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83480" y="3776472"/>
            <a:ext cx="3566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Pre-scored shortlists with explainable rationale. Five candidates ranked, not three hundred CVs to scan.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/ 17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 ·  LIVE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Built, not (only) pitched.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beta version is operating. Two views below.</a:t>
            </a:r>
            <a:endParaRPr lang="en-US" sz="1300" dirty="0"/>
          </a:p>
        </p:txBody>
      </p:sp>
      <p:pic>
        <p:nvPicPr>
          <p:cNvPr id="6" name="Image 0" descr="/sessions/loving-bold-gates/mnt/outputs/deck/mockups/her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783080"/>
            <a:ext cx="3931920" cy="2457450"/>
          </a:xfrm>
          <a:prstGeom prst="rect">
            <a:avLst/>
          </a:prstGeom>
        </p:spPr>
      </p:pic>
      <p:pic>
        <p:nvPicPr>
          <p:cNvPr id="7" name="Image 1" descr="/sessions/loving-bold-gates/mnt/outputs/deck/mockups/recruiter.png"/>
          <p:cNvPicPr>
            <a:picLocks noChangeAspect="1"/>
          </p:cNvPicPr>
          <p:nvPr/>
        </p:nvPicPr>
        <p:blipFill>
          <a:blip r:embed="rId4"/>
          <a:srcRect b="5881"/>
          <a:stretch>
            <a:fillRect/>
          </a:stretch>
        </p:blipFill>
        <p:spPr>
          <a:xfrm>
            <a:off x="4709160" y="1783080"/>
            <a:ext cx="3931920" cy="23129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431368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1A1A2E"/>
                </a:solidFill>
                <a:latin typeface="DM Sans" pitchFamily="34" charset="0"/>
              </a:rPr>
              <a:t>One of the tools of the Career Officer dashboard. Market Pulse 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709160" y="431368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Recruiter shortlist. Rationale per score..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/ 17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50C94F-E0A4-4828-DD0D-2B573E1BF6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599" y="1783080"/>
            <a:ext cx="4458125" cy="2457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 ·  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focused home market. A continental prize.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319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810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NETHERLANDS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0299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-1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€100M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addressable, at maturity.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800K students  ·  50 institutions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183K graduates per year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424K SMEs  ·  the visibility tax to solve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39319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810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EUROPE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83480" y="20299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-1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€2–3B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98348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addressable, at maturity.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2971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~5M higher-ed graduates per year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27 member states  ·  one EU AI Act regime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Replication, not reinvention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path  (bottom-up, conservative)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€60K ARR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4988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Tilburg pilot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2028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€1.65M ARR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44988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Dutch scale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2030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€13M+ ARR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0" y="44988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EU rollout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/ 17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 ·  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Rookies</a:t>
            </a:r>
            <a:r>
              <a:rPr lang="en-US" sz="20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flywheel, not a portfolio.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revenue streams. One compounding loop.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697480" cy="256032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Employer platform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8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Freemium → SaaS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76809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posting and discovery for every Dutch employer. Paid tiers </a:t>
            </a:r>
            <a:r>
              <a:rPr lang="en-US" sz="1100" dirty="0">
                <a:solidFill>
                  <a:srgbClr val="D7DCEA"/>
                </a:solidFill>
                <a:latin typeface="DM Sans" pitchFamily="34" charset="0"/>
              </a:rPr>
              <a:t>unlock preference tailoring, employer </a:t>
            </a:r>
            <a:r>
              <a:rPr lang="en-US" sz="11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branding, and hiring analytics. The growth engine in Y1–2, the recurring base at scale.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011680"/>
            <a:ext cx="2697480" cy="256032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University licenses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66160" y="2880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8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€5K–€15K / institution / year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3270546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Career-office software, cohort analytics, skills-gap intelligence. Not the revenue line — the moat and the qualification layer. Each university is worth multiples of its license in employer pull-through.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2011680"/>
            <a:ext cx="2697480" cy="256032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MARGIN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FFFFFF"/>
                </a:solidFill>
                <a:latin typeface="Playfair Display" pitchFamily="34" charset="0"/>
              </a:rPr>
              <a:t>Brand partnerships</a:t>
            </a:r>
          </a:p>
        </p:txBody>
      </p:sp>
      <p:sp>
        <p:nvSpPr>
          <p:cNvPr id="20" name="Text 18"/>
          <p:cNvSpPr/>
          <p:nvPr/>
        </p:nvSpPr>
        <p:spPr>
          <a:xfrm>
            <a:off x="6492240" y="2880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8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Add-on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127248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D7DCEA"/>
                </a:solidFill>
                <a:latin typeface="DM Sans" pitchFamily="34" charset="0"/>
              </a:rPr>
              <a:t>Employers pay to host curated events, branded workshops, and sponsored trips with pre-screened Rookies cohorts. The community is the moat; this is how it monetizes.</a:t>
            </a:r>
          </a:p>
        </p:txBody>
      </p:sp>
      <p:sp>
        <p:nvSpPr>
          <p:cNvPr id="22" name="Text 20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/ 17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 ·  GO-TO-MARKET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Universities first. Everything follows.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Trusted distribution beats direct outbound at the early-career layer.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03911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240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Tilburg + 2 anchors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2011680"/>
            <a:ext cx="3520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Founding team embedded at Tilburg. Academic advisor on faculty.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761488"/>
            <a:ext cx="82296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9260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371600" y="2898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31272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Top 14 research universities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2898648"/>
            <a:ext cx="3520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Replicate. Employer demand pulled by trusted university partners — no cold outbound. Default early-career layer of Dutch research-university system.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48456"/>
            <a:ext cx="82296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81304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371600" y="3785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2028+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4014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All 50 institutions, then EU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3785616"/>
            <a:ext cx="3520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Universities of applied sciences. Belgium, Germany, the wider EU. Same playbook, multilingual matching engine.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Win universities first. Students follow. Employers follow. The network compounds.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/ 17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 ·  COMPETITION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Rookies</a:t>
            </a:r>
            <a:r>
              <a:rPr lang="en-US" sz="20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Everyone solves a fragment. </a:t>
            </a:r>
            <a:r>
              <a:rPr lang="en-US" sz="28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built the system.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3945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153945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Matching Algorithm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66160" y="153945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C5CBD8"/>
                </a:solidFill>
                <a:latin typeface="DM Sans" pitchFamily="34" charset="0"/>
              </a:rPr>
              <a:t>Early career focused?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153945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Uni-embedded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153945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Community/ Longitudinal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06640" y="153945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Career Officer tool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05210"/>
            <a:ext cx="8229600" cy="457200"/>
          </a:xfrm>
          <a:prstGeom prst="rect">
            <a:avLst/>
          </a:prstGeom>
          <a:solidFill>
            <a:srgbClr val="12274D">
              <a:alpha val="50000"/>
            </a:srgbClr>
          </a:solidFill>
          <a:ln w="6350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304" y="195093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5CBD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JobTeaser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195093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AI - recruiters only</a:t>
            </a:r>
          </a:p>
        </p:txBody>
      </p:sp>
      <p:sp>
        <p:nvSpPr>
          <p:cNvPr id="16" name="Text 14"/>
          <p:cNvSpPr/>
          <p:nvPr/>
        </p:nvSpPr>
        <p:spPr>
          <a:xfrm>
            <a:off x="3566160" y="195093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No</a:t>
            </a:r>
          </a:p>
        </p:txBody>
      </p:sp>
      <p:sp>
        <p:nvSpPr>
          <p:cNvPr id="17" name="Text 15"/>
          <p:cNvSpPr/>
          <p:nvPr/>
        </p:nvSpPr>
        <p:spPr>
          <a:xfrm>
            <a:off x="4846320" y="195093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Partial</a:t>
            </a:r>
          </a:p>
        </p:txBody>
      </p:sp>
      <p:sp>
        <p:nvSpPr>
          <p:cNvPr id="18" name="Text 16"/>
          <p:cNvSpPr/>
          <p:nvPr/>
        </p:nvSpPr>
        <p:spPr>
          <a:xfrm>
            <a:off x="6126480" y="195093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No</a:t>
            </a:r>
          </a:p>
        </p:txBody>
      </p:sp>
      <p:sp>
        <p:nvSpPr>
          <p:cNvPr id="19" name="Text 17"/>
          <p:cNvSpPr/>
          <p:nvPr/>
        </p:nvSpPr>
        <p:spPr>
          <a:xfrm>
            <a:off x="7406640" y="195093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No</a:t>
            </a:r>
          </a:p>
        </p:txBody>
      </p:sp>
      <p:sp>
        <p:nvSpPr>
          <p:cNvPr id="20" name="Shape 18"/>
          <p:cNvSpPr/>
          <p:nvPr/>
        </p:nvSpPr>
        <p:spPr>
          <a:xfrm>
            <a:off x="457200" y="2408130"/>
            <a:ext cx="8229600" cy="457200"/>
          </a:xfrm>
          <a:prstGeom prst="rect">
            <a:avLst/>
          </a:prstGeom>
          <a:solidFill>
            <a:srgbClr val="12274D">
              <a:alpha val="50000"/>
            </a:srgbClr>
          </a:solidFill>
          <a:ln w="6350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" y="245385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5CBD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Magnet.me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86000" y="245385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Filters based</a:t>
            </a:r>
          </a:p>
        </p:txBody>
      </p:sp>
      <p:sp>
        <p:nvSpPr>
          <p:cNvPr id="23" name="Text 21"/>
          <p:cNvSpPr/>
          <p:nvPr/>
        </p:nvSpPr>
        <p:spPr>
          <a:xfrm>
            <a:off x="3566160" y="245385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Partial</a:t>
            </a:r>
          </a:p>
        </p:txBody>
      </p:sp>
      <p:sp>
        <p:nvSpPr>
          <p:cNvPr id="24" name="Text 22"/>
          <p:cNvSpPr/>
          <p:nvPr/>
        </p:nvSpPr>
        <p:spPr>
          <a:xfrm>
            <a:off x="4846320" y="245385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No</a:t>
            </a:r>
          </a:p>
        </p:txBody>
      </p:sp>
      <p:sp>
        <p:nvSpPr>
          <p:cNvPr id="25" name="Text 23"/>
          <p:cNvSpPr/>
          <p:nvPr/>
        </p:nvSpPr>
        <p:spPr>
          <a:xfrm>
            <a:off x="6126480" y="245385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Partial</a:t>
            </a:r>
          </a:p>
        </p:txBody>
      </p:sp>
      <p:sp>
        <p:nvSpPr>
          <p:cNvPr id="26" name="Text 24"/>
          <p:cNvSpPr/>
          <p:nvPr/>
        </p:nvSpPr>
        <p:spPr>
          <a:xfrm>
            <a:off x="7406640" y="245385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No</a:t>
            </a:r>
          </a:p>
        </p:txBody>
      </p:sp>
      <p:sp>
        <p:nvSpPr>
          <p:cNvPr id="27" name="Shape 25"/>
          <p:cNvSpPr/>
          <p:nvPr/>
        </p:nvSpPr>
        <p:spPr>
          <a:xfrm>
            <a:off x="457200" y="2911050"/>
            <a:ext cx="8229600" cy="457200"/>
          </a:xfrm>
          <a:prstGeom prst="rect">
            <a:avLst/>
          </a:prstGeom>
          <a:solidFill>
            <a:srgbClr val="12274D">
              <a:alpha val="50000"/>
            </a:srgbClr>
          </a:solidFill>
          <a:ln w="6350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" y="2944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5CBD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LinkedIn / Indeed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286000" y="295677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Basic AI-LLM</a:t>
            </a:r>
          </a:p>
        </p:txBody>
      </p:sp>
      <p:sp>
        <p:nvSpPr>
          <p:cNvPr id="30" name="Text 28"/>
          <p:cNvSpPr/>
          <p:nvPr/>
        </p:nvSpPr>
        <p:spPr>
          <a:xfrm>
            <a:off x="3566160" y="295677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No</a:t>
            </a:r>
          </a:p>
        </p:txBody>
      </p:sp>
      <p:sp>
        <p:nvSpPr>
          <p:cNvPr id="31" name="Text 29"/>
          <p:cNvSpPr/>
          <p:nvPr/>
        </p:nvSpPr>
        <p:spPr>
          <a:xfrm>
            <a:off x="4846320" y="295677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No</a:t>
            </a:r>
          </a:p>
        </p:txBody>
      </p:sp>
      <p:sp>
        <p:nvSpPr>
          <p:cNvPr id="32" name="Text 30"/>
          <p:cNvSpPr/>
          <p:nvPr/>
        </p:nvSpPr>
        <p:spPr>
          <a:xfrm>
            <a:off x="6126480" y="295677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No</a:t>
            </a:r>
          </a:p>
        </p:txBody>
      </p:sp>
      <p:sp>
        <p:nvSpPr>
          <p:cNvPr id="33" name="Text 31"/>
          <p:cNvSpPr/>
          <p:nvPr/>
        </p:nvSpPr>
        <p:spPr>
          <a:xfrm>
            <a:off x="7406640" y="295677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No</a:t>
            </a:r>
          </a:p>
        </p:txBody>
      </p:sp>
      <p:sp>
        <p:nvSpPr>
          <p:cNvPr id="34" name="Shape 32"/>
          <p:cNvSpPr/>
          <p:nvPr/>
        </p:nvSpPr>
        <p:spPr>
          <a:xfrm>
            <a:off x="457200" y="3413970"/>
            <a:ext cx="8229600" cy="457200"/>
          </a:xfrm>
          <a:prstGeom prst="rect">
            <a:avLst/>
          </a:prstGeom>
          <a:solidFill>
            <a:srgbClr val="1A3260">
              <a:alpha val="85000"/>
            </a:srgbClr>
          </a:solidFill>
          <a:ln w="6350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3776" y="3455933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Rookie</a:t>
            </a:r>
            <a:r>
              <a:rPr lang="en-US" sz="1400" b="1" dirty="0">
                <a:solidFill>
                  <a:srgbClr val="E9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</a:t>
            </a:r>
            <a:endParaRPr lang="en-US" sz="1400" dirty="0">
              <a:solidFill>
                <a:srgbClr val="E9622A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2286000" y="345969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Econometric model + AI positioning + Market Optimization</a:t>
            </a:r>
          </a:p>
        </p:txBody>
      </p:sp>
      <p:sp>
        <p:nvSpPr>
          <p:cNvPr id="37" name="Text 35"/>
          <p:cNvSpPr/>
          <p:nvPr/>
        </p:nvSpPr>
        <p:spPr>
          <a:xfrm>
            <a:off x="3566160" y="345969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846320" y="345969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126480" y="345969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406640" y="345969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7200" y="414637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JobTeaser last raised in 2019. Magnet.me has been capital-constrained since 2017. LinkedIn and Indeed aren't built for the early-career segment, and none of them optimizes the available market — different economics, different signal.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/ 17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 ·  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Three people, one architecture.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5030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r>
              <a:rPr lang="en-US" sz="1200" i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 built this because I lived this market. I watched friends spray-apply to three hundred jobs and end up working in something they didn't choose. The market doesn't have to be a lottery. The mathematics is solved. We just have to ship it.”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50093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Dan Toma Poenaru, founder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6974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697480" cy="45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Dan Toma Poenaru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Co-founder &amp; CEO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MSc Business Analytics &amp; OR, BSc IBA — Tilburg University. Designing the algorithm. Product, partnerships, fundraising.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0" y="2743200"/>
            <a:ext cx="26974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83280" y="2743200"/>
            <a:ext cx="2697480" cy="45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6616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Tudor Octavian Poenaru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32004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Co-founder &amp; CTO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BSc Computer Science &amp; Engineering — TU Eindhoven. Leads the back-end, connectivity and deployment.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2743200"/>
            <a:ext cx="26974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9360" y="2743200"/>
            <a:ext cx="2697480" cy="45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9224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Dr. Cristian Dobre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2004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Academic Advisor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Associate Professor, Econometrics &amp; OR, Tilburg. Master Academic Director, Business Analytics &amp; OR (TiSEM). Advisor on the mathematics behind the matching algorithm.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 / 17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29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5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720090" y="42519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kern="0" spc="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1781202"/>
            <a:ext cx="8298180" cy="1201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FFFFFF"/>
                </a:solidFill>
                <a:latin typeface="Playfair Display" pitchFamily="34" charset="0"/>
              </a:rPr>
              <a:t>“Travel like a human” was Airbnb's first conviction.</a:t>
            </a:r>
          </a:p>
          <a:p>
            <a:pPr algn="ctr"/>
            <a:endParaRPr lang="en-US" sz="2800" dirty="0">
              <a:solidFill>
                <a:srgbClr val="FFFFFF"/>
              </a:solidFill>
              <a:latin typeface="Playfair Display" pitchFamily="34" charset="0"/>
            </a:endParaRPr>
          </a:p>
          <a:p>
            <a:pPr algn="ctr"/>
            <a:endParaRPr lang="en-US" sz="2800" dirty="0">
              <a:solidFill>
                <a:srgbClr val="FFFFFF"/>
              </a:solidFill>
              <a:latin typeface="Playfair Display" pitchFamily="34" charset="0"/>
            </a:endParaRPr>
          </a:p>
          <a:p>
            <a:pPr algn="ctr"/>
            <a:r>
              <a:rPr lang="en-US" sz="2800" dirty="0">
                <a:solidFill>
                  <a:srgbClr val="FFFFFF"/>
                </a:solidFill>
                <a:latin typeface="Playfair Display" pitchFamily="34" charset="0"/>
              </a:rPr>
              <a:t> </a:t>
            </a:r>
            <a:r>
              <a:rPr lang="en-US" sz="2800" dirty="0">
                <a:solidFill>
                  <a:srgbClr val="E9622A"/>
                </a:solidFill>
                <a:latin typeface="Playfair Display" pitchFamily="34" charset="0"/>
              </a:rPr>
              <a:t>“Find work like a human” is ours.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838357"/>
            <a:ext cx="82981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– Rookies Team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5040630"/>
            <a:ext cx="9121140" cy="10287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 sz="135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1111</TotalTime>
  <Words>1668</Words>
  <Application>Microsoft Macintosh PowerPoint</Application>
  <PresentationFormat>On-screen Show (16:9)</PresentationFormat>
  <Paragraphs>263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</vt:lpstr>
      <vt:lpstr>DM Sans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Rookies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Rookies — Investor Pitch</dc:title>
  <dc:subject>PptxGenJS Presentation</dc:subject>
  <dc:creator>Dan Toma Poenaru</dc:creator>
  <cp:lastModifiedBy>Dan Poenaru</cp:lastModifiedBy>
  <cp:revision>14</cp:revision>
  <dcterms:created xsi:type="dcterms:W3CDTF">2026-05-25T16:14:41Z</dcterms:created>
  <dcterms:modified xsi:type="dcterms:W3CDTF">2026-05-29T10:20:53Z</dcterms:modified>
</cp:coreProperties>
</file>