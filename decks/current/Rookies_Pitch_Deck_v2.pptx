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 MATCHING INFRASTRUCTURE · NL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i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</a:t>
            </a:r>
            <a:pPr indent="0" marL="0">
              <a:buNone/>
            </a:pPr>
            <a:r>
              <a:rPr lang="en-US" sz="12000" b="1" i="1" spc="200" kern="0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enough to match.</a:t>
            </a:r>
            <a:endParaRPr lang="en-US" sz="3200" dirty="0"/>
          </a:p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enough to belong.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like a market. Run like a community. Anchored in Dutch universities.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6172200"/>
            <a:ext cx="10424160" cy="0"/>
          </a:xfrm>
          <a:prstGeom prst="line">
            <a:avLst/>
          </a:prstGeom>
          <a:noFill/>
          <a:ln w="12700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· PITCH DECK ·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49840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early-career market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broken in four ways.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4864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514600"/>
            <a:ext cx="73152" cy="16002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679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Visibility Tax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278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Subscription-based platforms reward the biggest recruitment budgets. SMEs, startups and challenger employers get buried.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514600"/>
            <a:ext cx="54864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514600"/>
            <a:ext cx="73152" cy="16002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2679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One-Sided Scoring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32278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either side; AI agents giving non-mutual recommendations. Friction, opinion — never modelled compatibility.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4864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251960"/>
            <a:ext cx="73152" cy="16002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9651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AI-tailor CVs. Companies AI-scan for keywords. Spray applications, 120+ per opening, and matches that no one made.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251960"/>
            <a:ext cx="54864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4251960"/>
            <a:ext cx="73152" cy="16002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69480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Universities Standing Still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49651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tools in an age of disruption. No real-time view of what the market wants. No longitudinal data on cohort outcomes.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943600"/>
            <a:ext cx="1110996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cause: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— three sides solving the same problem, alone.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numbers say it louder.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2788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F1F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606040"/>
            <a:ext cx="278892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 mo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time-to-first-job for graduates in the Netherlands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3008" y="2606040"/>
            <a:ext cx="2788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F1F3D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2606040"/>
            <a:ext cx="278892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0" name="Text 8"/>
          <p:cNvSpPr/>
          <p:nvPr/>
        </p:nvSpPr>
        <p:spPr>
          <a:xfrm>
            <a:off x="3767328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67328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per junior opening — most irrelevant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45936" y="2606040"/>
            <a:ext cx="2788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F1F3D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45936" y="2606040"/>
            <a:ext cx="278892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4" name="Text 12"/>
          <p:cNvSpPr/>
          <p:nvPr/>
        </p:nvSpPr>
        <p:spPr>
          <a:xfrm>
            <a:off x="6620256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620256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leave the Netherlands after graduation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98864" y="2606040"/>
            <a:ext cx="2788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F1F3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98864" y="2606040"/>
            <a:ext cx="278892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8" name="Text 16"/>
          <p:cNvSpPr/>
          <p:nvPr/>
        </p:nvSpPr>
        <p:spPr>
          <a:xfrm>
            <a:off x="9473184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sec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473184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recruiter attention per CV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73152" cy="9144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“Two AIs negotiating a job. Neither has ever met the person.”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early-career market,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WHY THIS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972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 get matched by a Nobel-Prize algorithm.</a:t>
            </a:r>
            <a:endParaRPr lang="en-US" sz="3800" dirty="0"/>
          </a:p>
          <a:p>
            <a:pPr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Graduates get a 7-second skim.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4526280"/>
            <a:ext cx="5349240" cy="1280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52628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6451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RESIDENCY · NRMP · 1998–PRESENT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4892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residents to hospitals.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303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37,667 doctors matched in 2025 — the largest match in history. Stable algorithm. Roth · Shapley · 2012 Nobel.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4526280"/>
            <a:ext cx="5349240" cy="1280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452628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46451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 HIRING ·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0" y="4892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graduates to employers.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5303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183K NL grads a year. Spray, filter, scroll. 7 seconds per CV. 120+ applications per opening.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matching market that mattered has been redesigned. Hiring is the last one left.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ENTER ROOKIES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Rookies is the matching architecture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early-career hiring.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where students, employers and universities work toward the same goal — together, not separately. Internships, working-student roles and first jobs, all in the same environment.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SIDES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3611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703320"/>
            <a:ext cx="73152" cy="9144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03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9120" y="3703320"/>
            <a:ext cx="3611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3703320"/>
            <a:ext cx="73152" cy="9144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703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703320"/>
            <a:ext cx="3611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3703320"/>
            <a:ext cx="73152" cy="9144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3703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Universities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ROLES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361188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5166360"/>
            <a:ext cx="73152" cy="9144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1663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389120" y="5166360"/>
            <a:ext cx="361188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0" y="5166360"/>
            <a:ext cx="73152" cy="9144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51663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students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138160" y="5166360"/>
            <a:ext cx="361188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5166360"/>
            <a:ext cx="73152" cy="9144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51663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jobs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WE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</a:t>
            </a:r>
            <a:endParaRPr lang="en-US" sz="3400" dirty="0"/>
          </a:p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has modelled together.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isn't a CV. Hiring isn't a search. We model what actually predicts a first job that fits — as a market, not as a feed.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2651760" cy="26974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337560"/>
            <a:ext cx="265176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Skills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non-technical, from experiences, projects, and self-learning.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8992" y="5340096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52578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mathematically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8992" y="5577840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54955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optimization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78992" y="5815584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57332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Auditable. Fast. Defensible.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3337560"/>
            <a:ext cx="2651760" cy="26974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3337560"/>
            <a:ext cx="265176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9476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Skills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9476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drive, transferability — the signal that doesn't fit a regression.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22192" y="5340096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3" name="Text 21"/>
          <p:cNvSpPr/>
          <p:nvPr/>
        </p:nvSpPr>
        <p:spPr>
          <a:xfrm>
            <a:off x="3977640" y="52578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Claude Sonnet 4.6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22192" y="5577840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5" name="Text 23"/>
          <p:cNvSpPr/>
          <p:nvPr/>
        </p:nvSpPr>
        <p:spPr>
          <a:xfrm>
            <a:off x="3977640" y="54955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— never replaces — math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22192" y="5815584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7" name="Text 25"/>
          <p:cNvSpPr/>
          <p:nvPr/>
        </p:nvSpPr>
        <p:spPr>
          <a:xfrm>
            <a:off x="3977640" y="57332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per match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337560"/>
            <a:ext cx="2651760" cy="26974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3337560"/>
            <a:ext cx="265176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3796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Pool-aware ranking. Fit depends on who else is available right now.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65392" y="5340096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52578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stable matching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65392" y="5577840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54955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 · Shapley framework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65392" y="5815584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57332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Moneyball for first jobs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52560" y="3337560"/>
            <a:ext cx="2651760" cy="26974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40" name="Shape 38"/>
          <p:cNvSpPr/>
          <p:nvPr/>
        </p:nvSpPr>
        <p:spPr>
          <a:xfrm>
            <a:off x="9052560" y="3337560"/>
            <a:ext cx="265176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9281160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8116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28116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everyone else skips. The part that compounds.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08592" y="5340096"/>
            <a:ext cx="914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464040" y="52578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engagement, longitudinal data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308592" y="5577840"/>
            <a:ext cx="914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9464040" y="54955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learn, iterate per cohort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308592" y="5815584"/>
            <a:ext cx="914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9464040" y="57332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ad page. A movement.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960" y="617220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Tomorrow's early-careers won't be applicants. They'll be Rookies.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WHY THIS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already been won.</a:t>
            </a:r>
            <a:endParaRPr lang="en-US" sz="4200" dirty="0"/>
          </a:p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Twice.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Nobel Prizes. Three industries. The same machinery — now applied to first jobs.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· PROVEN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5508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· DEPLOYED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5440680" cy="1280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33756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Nash equilibrium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794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 Nobel · John Nash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40507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decisions in non-cooperative games. The math behind every market.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5440680" cy="1280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70916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matching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5166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Nobel · Roth &amp; Shapley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54223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matching. Residents to hospitals. Students to schools. Donors to recipients.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337560"/>
            <a:ext cx="5440680" cy="8229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3337560"/>
            <a:ext cx="73152" cy="8229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3924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Moneyball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36850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 · Oakland A's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29400" y="3877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teams 5× their budget by finding the signal the market mispriced.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4251960"/>
            <a:ext cx="5440680" cy="8229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4251960"/>
            <a:ext cx="73152" cy="8229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3068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Kidney exchange networks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29400" y="45994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Roth-designed · ongoing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4791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multi-party chains save thousands of lives a year — matches no bilateral market could.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5166360"/>
            <a:ext cx="5440680" cy="8229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5166360"/>
            <a:ext cx="73152" cy="8229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52212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matching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29400" y="55138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cars · airlines · ride-share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9400" y="5705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algorithm assigns every customer to a specific unit. Your free upgrade is the optimizer at work.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problem. Same machinery. New market — first jobs.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spray to signal.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outcome — one interview — through completely different effort, quality, and outcome.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349240" cy="24688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697480"/>
            <a:ext cx="73152" cy="2468880"/>
          </a:xfrm>
          <a:prstGeom prst="rect">
            <a:avLst/>
          </a:prstGeom>
          <a:solidFill>
            <a:srgbClr val="B8BCC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applications.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interview.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Spray, pray, get rejected, spray more.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5349240" cy="24688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2697480"/>
            <a:ext cx="73152" cy="2468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ROOKIES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32918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best matches.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92240" y="39776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interview.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9224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fit. Apply with confidence.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20× more efficient. Infinitely less frustrating.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match that fits, not the match that ranks.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HOW IT SHIPS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products. One system.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of the architecture ships as a product. Together they form one matching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770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Matchmaking Architecture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192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running together — quantitative scoring for the measurable, Claude Sonnet 4.6 for the rest. Built for EU AI Act compliance: explainable, auditable, defensible.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60604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60604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69480" y="2770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Career-Services Analytics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3192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for career officers and university management. Cohort outcomes, skills-gap intelligence, longitudinal data nobody else surfaces.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38912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553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&amp; Startup Visibility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51023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every NL employer. Visibility by fit, not by budget. The 424,000+ Dutch SMEs finally compete on signal — the airtime the subscription model never gave them.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38912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438912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4553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Outreach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51023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Pre-scored shortlists with explainable rationale. Recruiters spend seconds on the right candidates instead of hundreds on the wrong ones.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035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all three sides finally pull in the same direction.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€100M home market.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€2–3B European prize.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800K+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Dutch higher ed (CBS / UNL)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3017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Higher-ed graduates per year (UNL + DUO)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universities (14 WO + 36 HBO)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~€100M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TAM at maturity (bottom-up)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2743200"/>
            <a:ext cx="4754880" cy="32918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NL pilot to EU standard.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178040" y="4096512"/>
            <a:ext cx="128016" cy="128016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NL pilot · ~€60K ARR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78040" y="4599432"/>
            <a:ext cx="128016" cy="128016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NL scale · ~€430K ARR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78040" y="5102352"/>
            <a:ext cx="128016" cy="128016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· Full NL · ~€1.65M ARR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8040" y="5605272"/>
            <a:ext cx="128016" cy="128016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5532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· EU rollout · €13M+ ARR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revenue streams.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flywheel.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3703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F1F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3017520"/>
            <a:ext cx="370332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→ SAAS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4572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every NL employer to post and discover. Paid tier unlocks AI-scored shortlists, employer branding, and longitudinal hiring analytics.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5623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 today · primary ARR tomorrow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3017520"/>
            <a:ext cx="3703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F1F3D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3017520"/>
            <a:ext cx="370332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SAAS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3611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Licenses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4572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€5–15K per institution per year. Career office software, cohort analytics, skills-gap intelligence.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5623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+ qualification · not primary revenue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3017520"/>
            <a:ext cx="3703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F1F3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3017520"/>
            <a:ext cx="370332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ADD-ON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41080" y="3611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Services (light)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41080" y="4572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student services — CV review, interview prep. Intentionally lean to protect mission.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41080" y="5623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layer · not the 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universities first.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follows.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EDE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Tilburg + 2 anchor pilots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conversion. Embed the Career Officer Console. Seed the founding Rookies community.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EDE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48056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· 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4251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14 research universities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80560" y="5074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pilot. Employer demand pulled by trusted university partners — no cold outbound.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EDE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13" name="Text 11"/>
          <p:cNvSpPr/>
          <p:nvPr/>
        </p:nvSpPr>
        <p:spPr>
          <a:xfrm>
            <a:off x="832104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· 2028+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251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sciences + EU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5074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Dutch institutions, then Belgium and Germany. Same playbook, multilingual engine.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Everyone's solving a fragment.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system.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18872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743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86868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" name="Text 5"/>
          <p:cNvSpPr/>
          <p:nvPr/>
        </p:nvSpPr>
        <p:spPr>
          <a:xfrm>
            <a:off x="1938528" y="2743200"/>
            <a:ext cx="704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focus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2743200"/>
            <a:ext cx="105156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9" name="Text 7"/>
          <p:cNvSpPr/>
          <p:nvPr/>
        </p:nvSpPr>
        <p:spPr>
          <a:xfrm>
            <a:off x="2807208" y="2743200"/>
            <a:ext cx="886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Uni-embedded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2743200"/>
            <a:ext cx="237744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1" name="Text 9"/>
          <p:cNvSpPr/>
          <p:nvPr/>
        </p:nvSpPr>
        <p:spPr>
          <a:xfrm>
            <a:off x="3858768" y="2743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algorithm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137160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2743200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/ EU-AI-Act ready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2743200"/>
            <a:ext cx="128016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7607808" y="2743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/ longitudinal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778240" y="2743200"/>
            <a:ext cx="210312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8887968" y="274320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Career-officer tooling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1188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42900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JobTeaser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0" y="3429000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938528" y="34290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3429000"/>
            <a:ext cx="10515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807208" y="342900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(5/50)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3429000"/>
            <a:ext cx="2377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858768" y="34290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only for recruiters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42900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42900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0" y="342900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607808" y="342900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778240" y="3429000"/>
            <a:ext cx="2103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887968" y="34290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basic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3931920"/>
            <a:ext cx="118872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393192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Magnet.me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0" y="3931920"/>
            <a:ext cx="86868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35" name="Text 33"/>
          <p:cNvSpPr/>
          <p:nvPr/>
        </p:nvSpPr>
        <p:spPr>
          <a:xfrm>
            <a:off x="1938528" y="39319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97480" y="3931920"/>
            <a:ext cx="105156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37" name="Text 35"/>
          <p:cNvSpPr/>
          <p:nvPr/>
        </p:nvSpPr>
        <p:spPr>
          <a:xfrm>
            <a:off x="2807208" y="393192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3931920"/>
            <a:ext cx="237744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39" name="Text 37"/>
          <p:cNvSpPr/>
          <p:nvPr/>
        </p:nvSpPr>
        <p:spPr>
          <a:xfrm>
            <a:off x="3858768" y="39319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based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3931920"/>
            <a:ext cx="137160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41" name="Text 39"/>
          <p:cNvSpPr/>
          <p:nvPr/>
        </p:nvSpPr>
        <p:spPr>
          <a:xfrm>
            <a:off x="6236208" y="39319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98080" y="3931920"/>
            <a:ext cx="128016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43" name="Text 41"/>
          <p:cNvSpPr/>
          <p:nvPr/>
        </p:nvSpPr>
        <p:spPr>
          <a:xfrm>
            <a:off x="7607808" y="393192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778240" y="3931920"/>
            <a:ext cx="210312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45" name="Text 43"/>
          <p:cNvSpPr/>
          <p:nvPr/>
        </p:nvSpPr>
        <p:spPr>
          <a:xfrm>
            <a:off x="8887968" y="393192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4434840"/>
            <a:ext cx="1188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" y="443484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828800" y="4434840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938528" y="44348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97480" y="4434840"/>
            <a:ext cx="10515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2807208" y="443484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749040" y="4434840"/>
            <a:ext cx="2377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3858768" y="44348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26480" y="443484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236208" y="44348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498080" y="443484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7607808" y="44348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778240" y="4434840"/>
            <a:ext cx="2103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8887968" y="44348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0080" y="4937760"/>
            <a:ext cx="118872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61" name="Text 59"/>
          <p:cNvSpPr/>
          <p:nvPr/>
        </p:nvSpPr>
        <p:spPr>
          <a:xfrm>
            <a:off x="749808" y="493776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828800" y="4937760"/>
            <a:ext cx="86868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63" name="Text 61"/>
          <p:cNvSpPr/>
          <p:nvPr/>
        </p:nvSpPr>
        <p:spPr>
          <a:xfrm>
            <a:off x="1938528" y="4937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697480" y="4937760"/>
            <a:ext cx="105156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65" name="Text 63"/>
          <p:cNvSpPr/>
          <p:nvPr/>
        </p:nvSpPr>
        <p:spPr>
          <a:xfrm>
            <a:off x="2807208" y="493776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749040" y="4937760"/>
            <a:ext cx="237744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67" name="Text 65"/>
          <p:cNvSpPr/>
          <p:nvPr/>
        </p:nvSpPr>
        <p:spPr>
          <a:xfrm>
            <a:off x="3858768" y="49377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only for recruiters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26480" y="4937760"/>
            <a:ext cx="137160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69" name="Text 67"/>
          <p:cNvSpPr/>
          <p:nvPr/>
        </p:nvSpPr>
        <p:spPr>
          <a:xfrm>
            <a:off x="6236208" y="49377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498080" y="4937760"/>
            <a:ext cx="128016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71" name="Text 69"/>
          <p:cNvSpPr/>
          <p:nvPr/>
        </p:nvSpPr>
        <p:spPr>
          <a:xfrm>
            <a:off x="7607808" y="49377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778240" y="4937760"/>
            <a:ext cx="2103120" cy="50292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73" name="Text 71"/>
          <p:cNvSpPr/>
          <p:nvPr/>
        </p:nvSpPr>
        <p:spPr>
          <a:xfrm>
            <a:off x="8887968" y="49377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0080" y="5440680"/>
            <a:ext cx="1188720" cy="502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75" name="Text 73"/>
          <p:cNvSpPr/>
          <p:nvPr/>
        </p:nvSpPr>
        <p:spPr>
          <a:xfrm>
            <a:off x="749808" y="544068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828800" y="5440680"/>
            <a:ext cx="868680" cy="502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77" name="Text 75"/>
          <p:cNvSpPr/>
          <p:nvPr/>
        </p:nvSpPr>
        <p:spPr>
          <a:xfrm>
            <a:off x="1938528" y="5440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697480" y="5440680"/>
            <a:ext cx="1051560" cy="502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79" name="Text 77"/>
          <p:cNvSpPr/>
          <p:nvPr/>
        </p:nvSpPr>
        <p:spPr>
          <a:xfrm>
            <a:off x="2807208" y="544068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749040" y="5440680"/>
            <a:ext cx="2377440" cy="502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1" name="Text 79"/>
          <p:cNvSpPr/>
          <p:nvPr/>
        </p:nvSpPr>
        <p:spPr>
          <a:xfrm>
            <a:off x="3858768" y="54406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 + AI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126480" y="5440680"/>
            <a:ext cx="1371600" cy="502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3" name="Text 81"/>
          <p:cNvSpPr/>
          <p:nvPr/>
        </p:nvSpPr>
        <p:spPr>
          <a:xfrm>
            <a:off x="6236208" y="544068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498080" y="5440680"/>
            <a:ext cx="1280160" cy="502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5" name="Text 83"/>
          <p:cNvSpPr/>
          <p:nvPr/>
        </p:nvSpPr>
        <p:spPr>
          <a:xfrm>
            <a:off x="7607808" y="54406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8778240" y="5440680"/>
            <a:ext cx="2103120" cy="502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7" name="Text 85"/>
          <p:cNvSpPr/>
          <p:nvPr/>
        </p:nvSpPr>
        <p:spPr>
          <a:xfrm>
            <a:off x="8887968" y="54406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is the only platform pairing explainable AI matching with native university embedding and community as a moat.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Founders. Engineers.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Econometrists.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people who lived the problem — and the math behind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3703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65760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920240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Toma Poenaru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Business Analytics &amp; Operations Research,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International Business Administration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University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3383280"/>
            <a:ext cx="3703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365760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60720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Tudor Octavian Poenaru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47548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Computer Science and Engineering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Eindhoven University of Technology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21040" y="3383280"/>
            <a:ext cx="3703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95360" y="365760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601200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ADVISOR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Cristian Dobre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0" y="47548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Department of Econometrics and Operations Research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Academic Director, BAOR, TiSEM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University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the next 18 months.</a:t>
            </a:r>
            <a:endParaRPr lang="en-US" sz="3800" dirty="0"/>
          </a:p>
          <a:p>
            <a:pPr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European standard.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RAISING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€500K pre-seed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capital — angels and early-stage funds with NL distribution, HR-tech operating experience, or academic backgrounds in mechanism design.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3200400"/>
            <a:ext cx="5120640" cy="301752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3200400"/>
            <a:ext cx="73152" cy="30175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· 18 MONTHS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hires · ship the math + reasoning layers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content, longitudinal engagement at 5 pilots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4892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4892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universities · 10K employers on platform · 5% paid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5440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5440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to Series A milestones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2030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five years,</a:t>
            </a:r>
            <a:endParaRPr lang="en-US" sz="4800" dirty="0"/>
          </a:p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graduate in Europe</a:t>
            </a:r>
            <a:endParaRPr lang="en-US" sz="4800" dirty="0"/>
          </a:p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finds their first job</a:t>
            </a:r>
            <a:endParaRPr lang="en-US" sz="4800" dirty="0"/>
          </a:p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a CV black hole.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find it as Rookies.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172200"/>
            <a:ext cx="10424160" cy="0"/>
          </a:xfrm>
          <a:prstGeom prst="line">
            <a:avLst/>
          </a:prstGeom>
          <a:noFill/>
          <a:ln w="12700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POENARU · TUDOR POENARU · DR. CRISTIAN DOBRE · ROOKIES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8320" y="6355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Pitch Deck</dc:title>
  <dc:subject>PptxGenJS Presentation</dc:subject>
  <dc:creator>Rookies</dc:creator>
  <cp:lastModifiedBy>Rookies</cp:lastModifiedBy>
  <cp:revision>1</cp:revision>
  <dcterms:created xsi:type="dcterms:W3CDTF">2026-05-22T18:05:22Z</dcterms:created>
  <dcterms:modified xsi:type="dcterms:W3CDTF">2026-05-22T18:05:22Z</dcterms:modified>
</cp:coreProperties>
</file>