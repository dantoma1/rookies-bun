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7" r:id="rId4"/>
    <p:sldId id="278" r:id="rId5"/>
    <p:sldId id="279" r:id="rId6"/>
    <p:sldId id="258" r:id="rId7"/>
    <p:sldId id="259" r:id="rId8"/>
    <p:sldId id="276" r:id="rId9"/>
    <p:sldId id="260" r:id="rId10"/>
    <p:sldId id="262" r:id="rId11"/>
    <p:sldId id="274" r:id="rId12"/>
    <p:sldId id="275" r:id="rId13"/>
    <p:sldId id="270" r:id="rId14"/>
    <p:sldId id="271" r:id="rId15"/>
    <p:sldId id="272" r:id="rId16"/>
    <p:sldId id="273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6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86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6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58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MATCHING INFRASTRUCTURE · NL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i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</a:t>
            </a:r>
            <a:r>
              <a:rPr lang="en-US" sz="12000" b="1" i="1" kern="0" spc="200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i="1" dirty="0">
                <a:solidFill>
                  <a:srgbClr val="FFFFFF"/>
                </a:solidFill>
                <a:latin typeface="Cambria" pitchFamily="34" charset="0"/>
              </a:rPr>
              <a:t>Smart enough to match. </a:t>
            </a:r>
          </a:p>
          <a:p>
            <a:r>
              <a:rPr lang="en-US" sz="3000" i="1" dirty="0">
                <a:solidFill>
                  <a:srgbClr val="FFFFFF"/>
                </a:solidFill>
                <a:latin typeface="Cambria" pitchFamily="34" charset="0"/>
              </a:rPr>
              <a:t>		Human enough to belong.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5166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Engineered like a market. Run like a community. Anchored in Dutch universities.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6172200"/>
            <a:ext cx="10424160" cy="0"/>
          </a:xfrm>
          <a:prstGeom prst="line">
            <a:avLst/>
          </a:prstGeom>
          <a:noFill/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· PITCH DECK ·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49840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early-career market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broken in four ways.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4864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73152" cy="16002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679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Visibility Tax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Subscription-based platforms reward the biggest recruitment budgets. SMEs, startups and challenger employers get buried.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514600"/>
            <a:ext cx="54864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2514600"/>
            <a:ext cx="73152" cy="16002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2679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One-Sided Matching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companies hire agencies for "the perfect candidate," or students push themselves into the void. Friction, opinion, never modelled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4864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73152" cy="16002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Students use AI to rephrase CVs and inject keywords. Companies use AI to scan for those same keywords. The result: spray applications, irrelevant CVs, and a market matching on syntax, not on fit.</a:t>
            </a:r>
          </a:p>
        </p:txBody>
      </p:sp>
      <p:sp>
        <p:nvSpPr>
          <p:cNvPr id="19" name="Shape 17"/>
          <p:cNvSpPr/>
          <p:nvPr/>
        </p:nvSpPr>
        <p:spPr>
          <a:xfrm>
            <a:off x="6263640" y="4251960"/>
            <a:ext cx="54864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4251960"/>
            <a:ext cx="73152" cy="16002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Universities Standing Still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4892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tools in an age of disruption. No anchor to what the market wants now. No way to follow students longitudinally.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943600"/>
            <a:ext cx="11109960" cy="36576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cause: 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— three sides solving the same problem, alone.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TODAY · PREFERENCE-BASED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Preference, not compatibility.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follow what students want and what companies want — not who actually fits whom. Everyone aims at the same 5.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BRANDS · OVERSUBSCRIBED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92640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· INVISIBLE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71016" y="3054096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7101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71016" y="3621024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71016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71016" y="4187952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71016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71016" y="4754880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71016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71016" y="5321808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71016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12180" y="290322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12180" y="2903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12180" y="345186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12180" y="34518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2180" y="400050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12180" y="40005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12180" y="454914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12180" y="4549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12180" y="509778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12180" y="5097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63040" y="3246120"/>
            <a:ext cx="4937760" cy="4572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63040" y="3246120"/>
            <a:ext cx="4937760" cy="59436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463040" y="3246120"/>
            <a:ext cx="4937760" cy="114300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463040" y="3246120"/>
            <a:ext cx="4937760" cy="169164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463040" y="3246120"/>
            <a:ext cx="4937760" cy="224028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463040" y="3813048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463040" y="3813048"/>
            <a:ext cx="4937760" cy="2743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463040" y="3813048"/>
            <a:ext cx="4937760" cy="57607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463040" y="3813048"/>
            <a:ext cx="4937760" cy="112471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63040" y="3813048"/>
            <a:ext cx="4937760" cy="167335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63040" y="4379976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463040" y="4379976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463040" y="4379976"/>
            <a:ext cx="4937760" cy="914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63040" y="4379976"/>
            <a:ext cx="4937760" cy="55778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63040" y="4379976"/>
            <a:ext cx="4937760" cy="110642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63040" y="4946904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463040" y="4946904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63040" y="4946904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463040" y="4946904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63040" y="4946904"/>
            <a:ext cx="4937760" cy="539496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271016" y="3054096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27101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271016" y="3621024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271016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271016" y="4187952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271016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271016" y="4754880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271016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271016" y="5321808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271016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012180" y="290322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012180" y="2903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1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012180" y="345186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012180" y="34518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012180" y="400050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012180" y="40005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12180" y="454914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012180" y="4549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012180" y="509778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012180" y="5097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5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538460" y="29946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538460" y="34518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538460" y="39090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538460" y="43662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538460" y="48234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538460" y="52806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69264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+ 10,000s more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brands drown in 2,000+ applications per slot. Better-fit employers go invisible.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9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WITH ROOKIES · COMPATIBILITY-BASED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Compatibility, ranked.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gets a personal list — companies ordered by actual fit, not visibility. Different students get different orderings.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4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1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4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4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1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4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4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1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4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11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20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20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57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60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20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57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60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20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57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60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20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57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60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20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57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60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97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06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06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43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46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06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143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46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06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43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646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06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143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646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06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143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646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83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183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292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92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429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932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92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29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932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292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429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932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92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429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932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292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429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932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0469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0469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578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578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715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0218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578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715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0218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9578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715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10218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578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715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0218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9578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9715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0218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students. Different lists. The right matches, in the right order.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9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DIFFERENCE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spray to signal.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outcome — one interview — through completely different effort and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5349240" cy="2286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73152" cy="2286000"/>
          </a:xfrm>
          <a:prstGeom prst="rect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applications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interview.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05840" y="4526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Spray, pray, get rejected, spray more.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5349240" cy="2286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73152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ROOKIES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32461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best matches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83680" y="3794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interview.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83680" y="4526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fit. Apply with confidence.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20× more efficient. Infinitely less frustrating.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 makes chaos. Compatibility makes Rookies.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9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numbers say it louder.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2788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78892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 mo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time-to-first-job for graduates in The Netherlands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3008" y="2606040"/>
            <a:ext cx="2788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93008" y="2606040"/>
            <a:ext cx="278892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67328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67328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per junior opening — most irrelevant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45936" y="2606040"/>
            <a:ext cx="2788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45936" y="2606040"/>
            <a:ext cx="278892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0256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620256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Students leave The Netherlands after graduation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98864" y="2606040"/>
            <a:ext cx="2788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98864" y="2606040"/>
            <a:ext cx="278892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73184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sec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473184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recruiter attention per CV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“Two AIs negotiating a job. Neither has ever met the person.”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early-career market,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your first job</a:t>
            </a:r>
            <a:endParaRPr lang="en-US" sz="5000" dirty="0"/>
          </a:p>
          <a:p>
            <a:pPr marL="0" indent="0">
              <a:buNone/>
            </a:pPr>
            <a:r>
              <a:rPr lang="en-US" sz="5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become a game of chance.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4754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doesn't have to be.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STILL · 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972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 get matched</a:t>
            </a:r>
            <a:endParaRPr lang="en-US" sz="4200" dirty="0"/>
          </a:p>
          <a:p>
            <a:pPr marL="0" indent="0">
              <a:buNone/>
            </a:pPr>
            <a:r>
              <a:rPr lang="en-US" sz="4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 Nobel-Prize algorithm.</a:t>
            </a:r>
            <a:endParaRPr lang="en-US" sz="4200" dirty="0"/>
          </a:p>
          <a:p>
            <a:pPr marL="0" indent="0">
              <a:buNone/>
            </a:pPr>
            <a:r>
              <a:rPr lang="en-US" sz="4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Graduates get a 7-second skim.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22960" y="4526280"/>
            <a:ext cx="5349240" cy="128016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46451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RESIDENCY · NRMP · 1998–PRESENT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4892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residents to hospitals.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303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37,667 doctors matched in 2025 — the largest match in history. Stable algorithm. Roth · Shapley · 2012 Nobel.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4526280"/>
            <a:ext cx="5349240" cy="128016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452628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46451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HIRING ·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0" y="4892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graduates to employers.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5303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183K NL grads a year. Spray, filter, scroll. 7 seconds per CV. 120+ applications per opening.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matching market that mattered has been redesigned. Hiring is the last one left.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how Rookie</a:t>
            </a:r>
            <a:r>
              <a:rPr lang="en-US" sz="4200" b="1" i="1" dirty="0">
                <a:solidFill>
                  <a:srgbClr val="E9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4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born.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side of the early-career equation. Internships, working-student roles and first jobs — students, employers and universities — finally share a floor.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SIDES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36118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73152" cy="9601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9120" y="3474720"/>
            <a:ext cx="36118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3474720"/>
            <a:ext cx="73152" cy="9601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34747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38160" y="3474720"/>
            <a:ext cx="36118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38160" y="3474720"/>
            <a:ext cx="73152" cy="9601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34747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ROLES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3611880" cy="9601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73152" cy="9601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89120" y="5029200"/>
            <a:ext cx="3611880" cy="9601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0" y="5029200"/>
            <a:ext cx="73152" cy="9601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50292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students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38160" y="5029200"/>
            <a:ext cx="3611880" cy="9601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38160" y="5029200"/>
            <a:ext cx="73152" cy="9601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0" y="50292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jobs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funny tagline goes here — TBD 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HOW IT SHIPS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products.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770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Matchmaking Architecture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192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modelled econometrically: quantitative scoring for the measurable, Rookie AI Agents for the non-measurable and market optimization. Explainable, defensible, fast.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60604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2770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Career-Services Analytics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33192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for career officers and university management. Cohort outcomes, skills-gap intelligence, longitudinal data nobody else surfaces.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553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&amp; Startup Visibility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1023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weight on fit, not budget. Smaller employers compete on signal — challengers get the airtime the subscription model never gave them.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54864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4389120"/>
            <a:ext cx="73152" cy="1645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4553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Outreach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51023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Pre-scored shortlists with explainable rationale. Recruiters spend seconds on the right candidates instead of hundreds on the wrong ones.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all three sides finally pull in the same direction.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WE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</a:t>
            </a:r>
            <a:endParaRPr lang="en-US" sz="3600" dirty="0"/>
          </a:p>
          <a:p>
            <a:pPr marL="0" indent="0"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modelled together.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464523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We don't just measure how a candidate fits a role. We measure how they score in the pool that's actually available — and where the role scores for them. Stable matches, not theoretical fits.</a:t>
            </a:r>
          </a:p>
        </p:txBody>
      </p:sp>
      <p:sp>
        <p:nvSpPr>
          <p:cNvPr id="6" name="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" y="3246120"/>
            <a:ext cx="2651760" cy="269748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265176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Skills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4108265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non-technical, from experiences, projects, and self-learning.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78992" y="5091898"/>
            <a:ext cx="91440" cy="1828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1234440" y="4983475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mathematically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78992" y="5329642"/>
            <a:ext cx="91440" cy="1828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1234440" y="5221219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optimization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78992" y="5567386"/>
            <a:ext cx="91440" cy="1828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1234440" y="5546053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career officers &amp; research</a:t>
            </a:r>
            <a:endParaRPr lang="en-US" sz="1200" dirty="0"/>
          </a:p>
        </p:txBody>
      </p:sp>
      <p:sp>
        <p:nvSpPr>
          <p:cNvPr id="17" name="Shape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66160" y="3246120"/>
            <a:ext cx="2651760" cy="269748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66160" y="3246120"/>
            <a:ext cx="265176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9476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9476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Skills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94760" y="4108265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drive, transferability — the signal that doesn't fit a regression.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22192" y="5091898"/>
            <a:ext cx="91440" cy="1828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3977640" y="497476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Rookie AI Agents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22192" y="5329642"/>
            <a:ext cx="91440" cy="1828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3977640" y="5221219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math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22192" y="5557807"/>
            <a:ext cx="91440" cy="1828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3977640" y="5536471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what no one else can</a:t>
            </a:r>
            <a:endParaRPr lang="en-US" sz="1200" dirty="0"/>
          </a:p>
        </p:txBody>
      </p:sp>
      <p:sp>
        <p:nvSpPr>
          <p:cNvPr id="28" name="Shape 2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09360" y="3246120"/>
            <a:ext cx="2651760" cy="269748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09360" y="3246120"/>
            <a:ext cx="265176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37960" y="4108265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Pool-aware ranking. The match isn't a score in isolation — it's how you fit the pool that exists right now.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65392" y="5048353"/>
            <a:ext cx="91440" cy="1828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6728678" y="5021785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stable matching (Roth · Shapley)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65392" y="5416732"/>
            <a:ext cx="91440" cy="1828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6720840" y="5308309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Pool-aware fit, not absolute fit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65392" y="5654476"/>
            <a:ext cx="91440" cy="1828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6720840" y="5546053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Moneyball logic for first jobs</a:t>
            </a:r>
            <a:endParaRPr lang="en-US" sz="1200" dirty="0"/>
          </a:p>
        </p:txBody>
      </p:sp>
      <p:sp>
        <p:nvSpPr>
          <p:cNvPr id="39" name="Shape 3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52560" y="3246120"/>
            <a:ext cx="2651760" cy="269748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052560" y="3246120"/>
            <a:ext cx="265176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28116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8116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322308" y="404187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everyone else skips. The part that compounds.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281160" y="4995229"/>
            <a:ext cx="9144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436608" y="4965187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engagement, longitudinal follow-up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281160" y="5337481"/>
            <a:ext cx="9144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436608" y="53161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learn, iterate — one cohort at a time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281160" y="5671021"/>
            <a:ext cx="9144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436608" y="55538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ad page. A movement.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2960" y="60807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chaos, less friction, no more randomness. Just Rookies. 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· WHY THIS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already been won.</a:t>
            </a:r>
            <a:endParaRPr lang="en-US" sz="4000" dirty="0"/>
          </a:p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Twice.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Nobel Prizes. Three industries. The same machinery — now applied to the first job.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· PROVEN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55080" y="2971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· DEPLOYED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5440680" cy="128016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Nash equilibrium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 Nobel · John Nash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400507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decisions in non-cooperative games. The math behind every market where players act on what others choose.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5440680" cy="128016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47548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matching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512064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Nobel · Roth &amp; Shapley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537667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matching theory. The math behind allocating people to slots — residents to hospitals, students to schools, donors to recipients.</a:t>
            </a:r>
            <a:endParaRPr lang="en-US" sz="1100" dirty="0"/>
          </a:p>
        </p:txBody>
      </p:sp>
      <p:sp>
        <p:nvSpPr>
          <p:cNvPr id="18" name="Shape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55080" y="3291840"/>
            <a:ext cx="5440680" cy="82296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55080" y="3291840"/>
            <a:ext cx="73152" cy="8229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3303159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Moneyball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3560931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 · Oakland A's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377908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teams 5× their budget by finding the labor-market signal everyone else had mispriced.</a:t>
            </a:r>
            <a:endParaRPr lang="en-US" sz="1100" dirty="0"/>
          </a:p>
        </p:txBody>
      </p:sp>
      <p:sp>
        <p:nvSpPr>
          <p:cNvPr id="23" name="Shape 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55080" y="4206240"/>
            <a:ext cx="5440680" cy="82296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55080" y="4206240"/>
            <a:ext cx="73152" cy="8229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4217559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Kidney exchange networks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29400" y="4475331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Roth-designed · ongoing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469348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multi-party chains save thousands of lives a year — clearing matches no bilateral market could.</a:t>
            </a:r>
            <a:endParaRPr lang="en-US" sz="1100" dirty="0"/>
          </a:p>
        </p:txBody>
      </p:sp>
      <p:sp>
        <p:nvSpPr>
          <p:cNvPr id="28" name="Shape 2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55080" y="5120640"/>
            <a:ext cx="5440680" cy="82296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55080" y="5120640"/>
            <a:ext cx="73152" cy="8229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5131959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matching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29400" y="5389731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cars · ride-share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9400" y="560788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algorithm assigns every customer to a specific unit — the pool rebalances in real time.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61264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problem. Same machinery. New market — first jobs.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01 · MATCHMAKING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on fit,</a:t>
            </a:r>
            <a:endParaRPr lang="en-US" sz="3800" dirty="0"/>
          </a:p>
          <a:p>
            <a:pPr marL="0" indent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 keywords.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one match. Quantitative scoring for what's measurable, Claude Sonnet 4.6 reasoning for everything else.</a:t>
            </a:r>
            <a:endParaRPr lang="en-US" sz="140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" y="3017520"/>
            <a:ext cx="5303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73152" cy="132588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07847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330054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Scoring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7403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optimization over structured features — degree fit, skills overlap, experience depth, location, work authorization. Deterministic. Auditable. Fast.</a:t>
            </a:r>
            <a:endParaRPr lang="en-US" sz="1200" dirty="0"/>
          </a:p>
        </p:txBody>
      </p:sp>
      <p:sp>
        <p:nvSpPr>
          <p:cNvPr id="10" name="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" y="4526280"/>
            <a:ext cx="5303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73152" cy="132588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58723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774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Layer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5222963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over unstructured signal: project depth, trajectory, voice, ambition. Every match comes with a rationale.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017520"/>
            <a:ext cx="5577840" cy="2834640"/>
          </a:xfrm>
          <a:prstGeom prst="rect">
            <a:avLst/>
          </a:prstGeom>
          <a:solidFill>
            <a:srgbClr val="EDE9E1"/>
          </a:solidFill>
          <a:ln w="19050">
            <a:solidFill>
              <a:srgbClr val="E862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EU AI Act: explainable, defensible, audit-ready.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01 / 04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889964-9BDD-DABC-3D6A-93C558D11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971800"/>
            <a:ext cx="6047231" cy="8760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6016406-AE24-A519-2947-2BEAC07AF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2" y="3810814"/>
            <a:ext cx="5837399" cy="21961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02 · CAREER-SERVICES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intelligence</a:t>
            </a:r>
            <a:endParaRPr lang="en-US" sz="3600" dirty="0"/>
          </a:p>
          <a:p>
            <a:pPr marL="0" indent="0">
              <a:buNone/>
            </a:pPr>
            <a:r>
              <a:rPr lang="en-US" sz="36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offices have never had.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190201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for career officers and university management — outcomes, skills gaps, longitudinal data nobody else surfaces.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9826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outcome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62075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Time-to-first-job, role quality, retention, and salary trends per cohort.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6684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Skills-gap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47875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what employers search for vs. what students have.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3542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follow-up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533675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data on alumni outcomes — what paths actually lead to good first jobs.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50400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Curriculum-relevant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219475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reports career offices can take to faculty and accreditation.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5577840" cy="2926080"/>
          </a:xfrm>
          <a:prstGeom prst="rect">
            <a:avLst/>
          </a:prstGeom>
          <a:solidFill>
            <a:srgbClr val="EDE9E1"/>
          </a:solidFill>
          <a:ln w="19050">
            <a:solidFill>
              <a:srgbClr val="E862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Officer Console — main dashboard 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5532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replace this placeholder with the actual screenshot.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career offices can actually take to the board.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02 / 04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154D9E-0E3D-BAB3-49F4-E6999649C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705474"/>
            <a:ext cx="6095999" cy="370142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03 · SME &amp; STARTUP VISIBILITY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smaller employers</a:t>
            </a:r>
            <a:endParaRPr lang="en-US" sz="3800" dirty="0"/>
          </a:p>
          <a:p>
            <a:pPr marL="0" indent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 on signal.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engine doesn't care about ad spend. SMEs and startups get the airtime the subscription model never gave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for every NL employer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 company can post and discover candidates from day one. No paywall on visibility.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on fit, not budget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95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quality determines who sees what — paid placement does not exist.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shortlists regardless of plan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681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employers get the same matching engine. Paid unlocks tools, not ranking.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 bet, made explicit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367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long tail Dutch students need to discover — the 99% of NL companies who aren't Booking, Philips, or ASML.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3017520"/>
            <a:ext cx="2697480" cy="54864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31821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~424K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92240" y="3675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SMEs (2-249 employees)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Statline 2024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89720" y="301752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89720" y="3017520"/>
            <a:ext cx="2697480" cy="54864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72600" y="31821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99%+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372600" y="3675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NL employers are SMEs (excl. self-employed solo)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72600" y="40690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Statline 2024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09360" y="452628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09360" y="4526280"/>
            <a:ext cx="2697480" cy="54864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92240" y="4690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6B6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TBD ]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492240" y="51846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NL workforce employed by SMEs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55778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/ CBS — confirm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189720" y="452628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189720" y="4526280"/>
            <a:ext cx="2697480" cy="54864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72600" y="4690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6B6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TBD ]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372600" y="51846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early-career hiring happening at SMEs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72600" y="55778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source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tax: zero. Match quality: equal for all.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03 / 04</a:t>
            </a:r>
            <a:endParaRPr lang="en-US" sz="9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04 · RECRUITER OUTREACH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 on the right ones.</a:t>
            </a:r>
            <a:endParaRPr lang="en-US" sz="3200" dirty="0"/>
          </a:p>
          <a:p>
            <a:pPr marL="0" indent="0">
              <a:buNone/>
            </a:pPr>
            <a:r>
              <a:rPr lang="en-US" sz="3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hundreds on the wrong ones.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Pre-scored shortlists with explainable rationale. Recruiters reclaim their time and their judgment.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99139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Pre-scored shortlists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359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scored before the recruiter clicks.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67719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rationale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217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black-box number.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36299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outreach with 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5075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message templates that reference the actual match logic.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504879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tracking &amp; follow-up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933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visibility — who replied, who's interviewing, who needs a nudge.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5577840" cy="2926080"/>
          </a:xfrm>
          <a:prstGeom prst="rect">
            <a:avLst/>
          </a:prstGeom>
          <a:solidFill>
            <a:srgbClr val="EDE9E1"/>
          </a:solidFill>
          <a:ln w="19050">
            <a:solidFill>
              <a:srgbClr val="E862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shortlist / outreach 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5532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replace this placeholder with the actual screenshot.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200 CVs in 7 seconds each — to 5 matches in 5 minutes each.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04 / 04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F6BF26-6303-BBB7-2BAE-68D6F2D0F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858" y="2926079"/>
            <a:ext cx="6624141" cy="314144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€100M home market.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€2-3B European prize.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800K+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Dutch higher ed (CBS / UNL)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3017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Higher-ed graduates per year (UNL + DUO)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universities (13 WO + 36 HBO)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~€100M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5760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TAM at maturity (bottom-up)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2743200"/>
            <a:ext cx="4754880" cy="32918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8660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NL pilot to EU standard.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178040" y="4096512"/>
            <a:ext cx="128016" cy="128016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5236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NL pilot · ~€60K ARR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78040" y="4599432"/>
            <a:ext cx="128016" cy="128016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5236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NL scale · ~€430K ARR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78040" y="5102352"/>
            <a:ext cx="128016" cy="128016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5236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· Full NL · ~€1.65M ARR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5605272"/>
            <a:ext cx="128016" cy="128016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52360" y="5532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· EU rollout · €13M+ ARR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revenue streams.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flywheel.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3703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70332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SAAS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4572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every NL employer to post and discover. Paid tier unlocks preference tailoring, employer branding, longitudinal hiring analytics, and many more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5623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 today · primary ARR tomorrow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3017520"/>
            <a:ext cx="3703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3017520"/>
            <a:ext cx="370332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SAAS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3611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Licenses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4572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€5-15K per institution per year. Career office software, cohort analytics, and skills-gap intelligence.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5623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+ qualification · not primary revenue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3017520"/>
            <a:ext cx="3703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3017520"/>
            <a:ext cx="370332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4108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ADD-ON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41080" y="3611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Services (light)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41080" y="4572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student services — CV review, interview prep. Intentionally lean to protect mission.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41080" y="5623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layer · not the 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universities first.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follows.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EDE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Tilburg + 2 anchor pilots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conversion. Embed the Career Officer Console. Seed the founding Rookies community.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EDE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48056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·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4251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14 research universities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80560" y="5074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pilot. Employer demand pulled by trusted university partners.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i="1" dirty="0">
                <a:solidFill>
                  <a:srgbClr val="EDE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13" name="Text 11"/>
          <p:cNvSpPr/>
          <p:nvPr/>
        </p:nvSpPr>
        <p:spPr>
          <a:xfrm>
            <a:off x="832104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· 2028+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251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sciences + EU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5074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49 Dutch institutions, then Belgium and Germany. Same playbook, multilingual engine.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Everyone's solving a fragment.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system.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18872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749808" y="2743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86868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938528" y="2743200"/>
            <a:ext cx="704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focus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743200"/>
            <a:ext cx="105156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2807208" y="2743200"/>
            <a:ext cx="886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Uni-embedded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743200"/>
            <a:ext cx="237744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3858768" y="2743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algorithm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137160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6236208" y="2743200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/ EU-AI-Act ready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2743200"/>
            <a:ext cx="128016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7607808" y="2743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/ longitudinal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0" y="2743200"/>
            <a:ext cx="210312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8887968" y="274320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Career-officer tooling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11887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749808" y="342900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0" y="3429000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1938528" y="34290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97480" y="3429000"/>
            <a:ext cx="10515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3" name="Text 21"/>
          <p:cNvSpPr/>
          <p:nvPr/>
        </p:nvSpPr>
        <p:spPr>
          <a:xfrm>
            <a:off x="2807208" y="342900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(5/50)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49040" y="3429000"/>
            <a:ext cx="23774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5" name="Text 23"/>
          <p:cNvSpPr/>
          <p:nvPr/>
        </p:nvSpPr>
        <p:spPr>
          <a:xfrm>
            <a:off x="3858768" y="34290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only for recruiters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42900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6236208" y="342900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0" y="342900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9" name="Text 27"/>
          <p:cNvSpPr/>
          <p:nvPr/>
        </p:nvSpPr>
        <p:spPr>
          <a:xfrm>
            <a:off x="7607808" y="342900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78240" y="3429000"/>
            <a:ext cx="21031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1" name="Text 29"/>
          <p:cNvSpPr/>
          <p:nvPr/>
        </p:nvSpPr>
        <p:spPr>
          <a:xfrm>
            <a:off x="8887968" y="34290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basic engagement statistics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3931920"/>
            <a:ext cx="118872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3" name="Text 31"/>
          <p:cNvSpPr/>
          <p:nvPr/>
        </p:nvSpPr>
        <p:spPr>
          <a:xfrm>
            <a:off x="749808" y="393192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Magnet.me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0" y="3931920"/>
            <a:ext cx="86868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5" name="Text 33"/>
          <p:cNvSpPr/>
          <p:nvPr/>
        </p:nvSpPr>
        <p:spPr>
          <a:xfrm>
            <a:off x="1938528" y="39319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97480" y="3931920"/>
            <a:ext cx="105156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2807208" y="393192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49040" y="3931920"/>
            <a:ext cx="237744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9" name="Text 37"/>
          <p:cNvSpPr/>
          <p:nvPr/>
        </p:nvSpPr>
        <p:spPr>
          <a:xfrm>
            <a:off x="3858768" y="39319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based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26480" y="3931920"/>
            <a:ext cx="137160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1" name="Text 39"/>
          <p:cNvSpPr/>
          <p:nvPr/>
        </p:nvSpPr>
        <p:spPr>
          <a:xfrm>
            <a:off x="6236208" y="39319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0" y="3931920"/>
            <a:ext cx="128016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/>
          <p:nvPr/>
        </p:nvSpPr>
        <p:spPr>
          <a:xfrm>
            <a:off x="7607808" y="39319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778240" y="3931920"/>
            <a:ext cx="210312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5" name="Text 43"/>
          <p:cNvSpPr/>
          <p:nvPr/>
        </p:nvSpPr>
        <p:spPr>
          <a:xfrm>
            <a:off x="8887968" y="393192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" y="4434840"/>
            <a:ext cx="11887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7" name="Text 45"/>
          <p:cNvSpPr/>
          <p:nvPr/>
        </p:nvSpPr>
        <p:spPr>
          <a:xfrm>
            <a:off x="749808" y="443484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828800" y="4434840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9" name="Text 47"/>
          <p:cNvSpPr/>
          <p:nvPr/>
        </p:nvSpPr>
        <p:spPr>
          <a:xfrm>
            <a:off x="1938528" y="44348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697480" y="4434840"/>
            <a:ext cx="10515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1" name="Text 49"/>
          <p:cNvSpPr/>
          <p:nvPr/>
        </p:nvSpPr>
        <p:spPr>
          <a:xfrm>
            <a:off x="2807208" y="443484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749040" y="4434840"/>
            <a:ext cx="23774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3" name="Text 51"/>
          <p:cNvSpPr/>
          <p:nvPr/>
        </p:nvSpPr>
        <p:spPr>
          <a:xfrm>
            <a:off x="3858768" y="44348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126480" y="443484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5" name="Text 53"/>
          <p:cNvSpPr/>
          <p:nvPr/>
        </p:nvSpPr>
        <p:spPr>
          <a:xfrm>
            <a:off x="6236208" y="44348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498080" y="443484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7" name="Text 55"/>
          <p:cNvSpPr/>
          <p:nvPr/>
        </p:nvSpPr>
        <p:spPr>
          <a:xfrm>
            <a:off x="7607808" y="44348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778240" y="4434840"/>
            <a:ext cx="21031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9" name="Text 57"/>
          <p:cNvSpPr/>
          <p:nvPr/>
        </p:nvSpPr>
        <p:spPr>
          <a:xfrm>
            <a:off x="8887968" y="44348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40080" y="4937760"/>
            <a:ext cx="118872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1" name="Text 59"/>
          <p:cNvSpPr/>
          <p:nvPr/>
        </p:nvSpPr>
        <p:spPr>
          <a:xfrm>
            <a:off x="749808" y="493776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828800" y="4937760"/>
            <a:ext cx="86868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3" name="Text 61"/>
          <p:cNvSpPr/>
          <p:nvPr/>
        </p:nvSpPr>
        <p:spPr>
          <a:xfrm>
            <a:off x="1938528" y="4937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697480" y="4937760"/>
            <a:ext cx="105156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5" name="Text 63"/>
          <p:cNvSpPr/>
          <p:nvPr/>
        </p:nvSpPr>
        <p:spPr>
          <a:xfrm>
            <a:off x="2807208" y="493776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749040" y="4937760"/>
            <a:ext cx="237744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7" name="Text 65"/>
          <p:cNvSpPr/>
          <p:nvPr/>
        </p:nvSpPr>
        <p:spPr>
          <a:xfrm>
            <a:off x="3858768" y="49377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only for recruiters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126480" y="4937760"/>
            <a:ext cx="137160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9" name="Text 67"/>
          <p:cNvSpPr/>
          <p:nvPr/>
        </p:nvSpPr>
        <p:spPr>
          <a:xfrm>
            <a:off x="6236208" y="49377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498080" y="4937760"/>
            <a:ext cx="128016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1" name="Text 69"/>
          <p:cNvSpPr/>
          <p:nvPr/>
        </p:nvSpPr>
        <p:spPr>
          <a:xfrm>
            <a:off x="7607808" y="49377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778240" y="4937760"/>
            <a:ext cx="2103120" cy="50292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3" name="Text 71"/>
          <p:cNvSpPr/>
          <p:nvPr/>
        </p:nvSpPr>
        <p:spPr>
          <a:xfrm>
            <a:off x="8887968" y="49377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40080" y="5440680"/>
            <a:ext cx="1188720" cy="502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5" name="Text 73"/>
          <p:cNvSpPr/>
          <p:nvPr/>
        </p:nvSpPr>
        <p:spPr>
          <a:xfrm>
            <a:off x="749808" y="54406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828800" y="5440680"/>
            <a:ext cx="868680" cy="502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7" name="Text 75"/>
          <p:cNvSpPr/>
          <p:nvPr/>
        </p:nvSpPr>
        <p:spPr>
          <a:xfrm>
            <a:off x="1938528" y="5440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697480" y="5440680"/>
            <a:ext cx="1051560" cy="502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9" name="Text 77"/>
          <p:cNvSpPr/>
          <p:nvPr/>
        </p:nvSpPr>
        <p:spPr>
          <a:xfrm>
            <a:off x="2807208" y="544068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749040" y="5440680"/>
            <a:ext cx="2377440" cy="502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1" name="Text 79"/>
          <p:cNvSpPr/>
          <p:nvPr/>
        </p:nvSpPr>
        <p:spPr>
          <a:xfrm>
            <a:off x="3858768" y="5440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 model + AI positioning + Market Optimization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126480" y="5440680"/>
            <a:ext cx="1371600" cy="502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3" name="Text 81"/>
          <p:cNvSpPr/>
          <p:nvPr/>
        </p:nvSpPr>
        <p:spPr>
          <a:xfrm>
            <a:off x="6236208" y="54406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498080" y="5440680"/>
            <a:ext cx="1280160" cy="502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5" name="Text 83"/>
          <p:cNvSpPr/>
          <p:nvPr/>
        </p:nvSpPr>
        <p:spPr>
          <a:xfrm>
            <a:off x="7607808" y="54406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778240" y="5440680"/>
            <a:ext cx="2103120" cy="5029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7" name="Text 85"/>
          <p:cNvSpPr/>
          <p:nvPr/>
        </p:nvSpPr>
        <p:spPr>
          <a:xfrm>
            <a:off x="8887968" y="54406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is the only platform pairing explainable AI matching with native university embedding and community as a moat.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Founder-led. Technical.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ground.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people who lived the problem — students, builders, and operators inside the Dutch university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3703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920240" y="4114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4389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Toma Poenaru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480560" y="3749040"/>
            <a:ext cx="3703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402336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E8622A"/>
                </a:solidFill>
                <a:latin typeface="Cambria" pitchFamily="34" charset="0"/>
              </a:rPr>
              <a:t>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60720" y="4114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97434" y="4389120"/>
            <a:ext cx="2540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Tudor Octavian Poenaru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321040" y="3749040"/>
            <a:ext cx="3703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F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95360" y="402336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9536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E8622A"/>
                </a:solidFill>
                <a:latin typeface="Cambria" pitchFamily="34" charset="0"/>
              </a:rPr>
              <a:t>C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601200" y="4114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0" y="4389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Cristian Dobre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5A03677-720A-BDBB-DD58-C0E74BF9DEC2}"/>
              </a:ext>
            </a:extLst>
          </p:cNvPr>
          <p:cNvSpPr/>
          <p:nvPr/>
        </p:nvSpPr>
        <p:spPr>
          <a:xfrm>
            <a:off x="731520" y="553212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Business Analytics &amp; Operations Research,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International Business Administration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University</a:t>
            </a: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l">
              <a:buNone/>
            </a:pPr>
            <a:endParaRPr lang="en-US" sz="1200" dirty="0">
              <a:solidFill>
                <a:srgbClr val="555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B09DE315-058D-2DF3-98ED-D6D09B09E942}"/>
              </a:ext>
            </a:extLst>
          </p:cNvPr>
          <p:cNvSpPr/>
          <p:nvPr/>
        </p:nvSpPr>
        <p:spPr>
          <a:xfrm>
            <a:off x="4572000" y="55321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Computer Science and Engineering,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Eindhoven University of Technology.</a:t>
            </a:r>
          </a:p>
          <a:p>
            <a:pPr marL="0" indent="0" algn="l">
              <a:buNone/>
            </a:pPr>
            <a:endParaRPr lang="en-US" sz="1200" dirty="0">
              <a:solidFill>
                <a:srgbClr val="555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555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E1E48F4D-B40D-6995-25E5-34CB090B7A45}"/>
              </a:ext>
            </a:extLst>
          </p:cNvPr>
          <p:cNvSpPr/>
          <p:nvPr/>
        </p:nvSpPr>
        <p:spPr>
          <a:xfrm>
            <a:off x="8397240" y="5372100"/>
            <a:ext cx="349213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Associate Professor, Department of Econometrics and Operations Research 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Master Academic Director, Business Analytics and Operations Research, TiSEM.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the next 18 months.</a:t>
            </a:r>
            <a:endParaRPr lang="en-US" sz="4000" dirty="0"/>
          </a:p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European standard.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RAISING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Pre-seed round: 150-350k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strategic capital — angels and early-stage funds with NL or AI distribution.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3200400"/>
            <a:ext cx="5120640" cy="301752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3200400"/>
            <a:ext cx="73152" cy="30175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· 18 MONTHS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Marketing hires · ship the math + reasoning layers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content, longitudinal engagement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4892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universities · 10K employers on platform · 5% paid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5440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5440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to Series A milestones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2035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nine years,</a:t>
            </a:r>
            <a:endParaRPr lang="en-US" sz="4800" dirty="0"/>
          </a:p>
          <a:p>
            <a:pPr marL="0" indent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graduate in Europe</a:t>
            </a:r>
            <a:endParaRPr lang="en-US" sz="4800" dirty="0"/>
          </a:p>
          <a:p>
            <a:pPr marL="0" indent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finds their first job</a:t>
            </a:r>
            <a:endParaRPr lang="en-US" sz="4800" dirty="0"/>
          </a:p>
          <a:p>
            <a:pPr marL="0" indent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a CV black hole.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find it as Rookies.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172200"/>
            <a:ext cx="10424160" cy="0"/>
          </a:xfrm>
          <a:prstGeom prst="line">
            <a:avLst/>
          </a:prstGeom>
          <a:noFill/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POENARU · ROOKIES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8320" y="6355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2994</TotalTime>
  <Words>2535</Words>
  <Application>Microsoft Macintosh PowerPoint</Application>
  <PresentationFormat>Widescreen</PresentationFormat>
  <Paragraphs>498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Pitch Deck</dc:title>
  <dc:subject>PptxGenJS Presentation</dc:subject>
  <dc:creator>Rookies</dc:creator>
  <cp:lastModifiedBy>Dan Poenaru</cp:lastModifiedBy>
  <cp:revision>26</cp:revision>
  <dcterms:created xsi:type="dcterms:W3CDTF">2026-05-20T16:07:18Z</dcterms:created>
  <dcterms:modified xsi:type="dcterms:W3CDTF">2026-05-22T18:09:46Z</dcterms:modified>
</cp:coreProperties>
</file>