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10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011680"/>
            <a:ext cx="5029200" cy="5029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1463040"/>
            <a:ext cx="3657600" cy="3657600"/>
          </a:xfrm>
          <a:prstGeom prst="ellipse">
            <a:avLst/>
          </a:prstGeom>
          <a:solidFill>
            <a:srgbClr val="E8622A">
              <a:alpha val="20000"/>
            </a:srgbClr>
          </a:solidFill>
          <a:ln w="12700">
            <a:solidFill>
              <a:srgbClr val="E86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kern="0" spc="-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</a:t>
            </a:r>
            <a:r>
              <a:rPr lang="en-US" sz="9600" kern="0" spc="-200" dirty="0">
                <a:solidFill>
                  <a:srgbClr val="E9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</a:t>
            </a:r>
            <a:r>
              <a:rPr lang="en-US" sz="9600" kern="0" spc="-2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2D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matching architecture for early-career hiring.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 pitch  ·  Pre-seed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8AA1C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first job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 a </a:t>
            </a:r>
            <a:r>
              <a:rPr lang="en-US" sz="64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market.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DM Sans" pitchFamily="34" charset="0"/>
              </a:rPr>
              <a:t>And like any market, it only works when both sides can find each other. Today, they can't. We’re rebuilding the layer between them, from the mathematics up.</a:t>
            </a:r>
          </a:p>
        </p:txBody>
      </p:sp>
      <p:sp>
        <p:nvSpPr>
          <p:cNvPr id="7" name="Text 5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· 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ways the market breaks.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dysfunction isn't an accident — it's structural.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visibility 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500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Today's job platforms are subscription-driven advertising marketplaces. The 424,000 NL SMEs that would fit a student lose to a handful of well-marketed brands every cohort.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984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One-sided scoring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3500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Existing platforms optimise for engagement, not for matching. Students filter by keyword; recruiters filter for keywords. Neither side's recommendation is informed by what the other side actually needs.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355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vs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Applicants tailor CVs with AI. Recruiters screen them with AI. The two systems negotiate, neither has ever met the person at the centre. The market has reduced itself to a single prayer.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54864" cy="13258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Universities standing still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37216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Career-office tooling was built before LLMs. No longitudinal tracking, no real-time labour-market view, no skills-gap intelligence. The institutions best positioned to fix the system can't see it.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· 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cost, in numbers.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Dutch early-career market, today.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applications per junior 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79192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recruiter time per CV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in 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09744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applicants now use AI to apply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03136" y="2240280"/>
            <a:ext cx="208483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12864" y="246888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 in 10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40296" y="329184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screen with AI in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Getting your first job has become a game of chance. It does not have to be.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· 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forces, converging this cohort.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conditions that make this problem solvable now did not exist eighteen months ago.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has industrialised the dysfunction.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Generative AI didn't solve matching; it scaled the failure. The cycle worsens with each new cohort. The cost of waiting is paid by the next graduating class.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88720" y="2880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EU AI Act now governs high-risk recruitment.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2644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Article 13 mandates per-pair transparency. Existing platforms can't deliver it. We are built to comply from day one, explainable scoring is the product, not a patch.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Universities are being asked questions they can't answer.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178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Boards, faculty, and ministries need real-time outcome data. Career-office software from the pre-LLM era can't produce it. The first vendor that does becomes the default layer.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· 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kern="0" spc="-1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replace the architecture.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is a matching architecture, not a job board. We pair quantitative scoring with explainable AI reasoning, embed natively in Dutch universities, and build a longitudinal community of students whose career trajectories compound the system's intelligence over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5775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Quantitative scoring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94335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 first. Deterministic, auditable, fast.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5204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352044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35775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Reasoning-layer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94335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AI Agent for the signal math can't capture, with a rationale per pair.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352044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57759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Longitudinal community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94071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data that compounds. Each match teaches the system.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·  VISUALISED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spray to allocation.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students. The same companies. A different layer beneath them.</a:t>
            </a:r>
            <a:endParaRPr lang="en-US" sz="1300" dirty="0"/>
          </a:p>
        </p:txBody>
      </p:sp>
      <p:pic>
        <p:nvPicPr>
          <p:cNvPr id="6" name="Image 0" descr="/sessions/loving-bold-gates/mnt/outputs/deck/mockups/diagram-cha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874520"/>
            <a:ext cx="4114800" cy="2532185"/>
          </a:xfrm>
          <a:prstGeom prst="rect">
            <a:avLst/>
          </a:prstGeom>
        </p:spPr>
      </p:pic>
      <p:pic>
        <p:nvPicPr>
          <p:cNvPr id="7" name="Image 1" descr="/sessions/loving-bold-gates/mnt/outputs/deck/mockups/diagram-match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874520"/>
            <a:ext cx="4114800" cy="25321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45242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do not rank harder. We change what is being ranked.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17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 ·  LINEAGE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mathematics is published.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deployments are operational.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1962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Gale &amp; Shapley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Stable matching.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1994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8892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Nash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Equilibrium in strategic markets.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Roth &amp; Shapley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Nobel Prize — market design as engineering.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2194560"/>
            <a:ext cx="1965960" cy="15544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086600" y="2834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NRMP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37,667 doctors placed in a single match.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Kidney exchange. School choice. Dynamic fleets. Moneyball. The early-career hiring market is the most prominent matching market that has not yet been redesigned.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 ·  THE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layers no existing platform models together.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answers a different question. The combination is the product.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039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Hard skills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 optimisation over structured features. Deterministic, auditable, fast — the kind of math an EU regulator can read.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20391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23560" y="20391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Soft skills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AI Agent reads CVs, projects, and self-descriptions. Math stays primary; AI extends its reach with a rationale per score.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market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Pool-aware ranking via Roth-Shapley. Fit is not absolute — it depends on who else is in the pool, in real time.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4107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23560" y="34107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Community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92040" y="3794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Longitudinal cohorts. Events, content, post-placement feedback. Each match teaches the next. The moat compounds.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 · 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Four products. One system.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sides of the market, finally pulling in the same direction.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Matchmaking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 + reasoning AI feeding a stable-matching algorithm. EU AI Act compliant by construction.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8745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Career-services analytics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4048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outcomes, skills-gap intelligence, board-ready reports — the first such tooling in Dutch higher education.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SME &amp; startup visibility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7764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for every Dutch employer. Visibility set by match quality, not by paid placement.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3931920" cy="132588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246120"/>
            <a:ext cx="393192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Recruiter outreach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776472"/>
            <a:ext cx="3566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Pre-scored shortlists with explainable rationale. Five candidates ranked, not three hundred CVs to scan.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 ·  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Built, not (only) pitched.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beta version is live and operating. Two views below.</a:t>
            </a:r>
            <a:endParaRPr lang="en-US" sz="1300" dirty="0"/>
          </a:p>
        </p:txBody>
      </p:sp>
      <p:pic>
        <p:nvPicPr>
          <p:cNvPr id="6" name="Image 0" descr="/sessions/loving-bold-gates/mnt/outputs/deck/mockups/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783080"/>
            <a:ext cx="3931920" cy="2457450"/>
          </a:xfrm>
          <a:prstGeom prst="rect">
            <a:avLst/>
          </a:prstGeom>
        </p:spPr>
      </p:pic>
      <p:pic>
        <p:nvPicPr>
          <p:cNvPr id="7" name="Image 1" descr="/sessions/loving-bold-gates/mnt/outputs/deck/mockups/recruiter.png"/>
          <p:cNvPicPr>
            <a:picLocks noChangeAspect="1"/>
          </p:cNvPicPr>
          <p:nvPr/>
        </p:nvPicPr>
        <p:blipFill>
          <a:blip r:embed="rId4"/>
          <a:srcRect b="5881"/>
          <a:stretch>
            <a:fillRect/>
          </a:stretch>
        </p:blipFill>
        <p:spPr>
          <a:xfrm>
            <a:off x="4709160" y="1783080"/>
            <a:ext cx="3931920" cy="23129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431368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2E"/>
                </a:solidFill>
                <a:latin typeface="DM Sans" pitchFamily="34" charset="0"/>
              </a:rPr>
              <a:t>One of the tools of the Career Officer dashboard. Market Pulse 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09160" y="431368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Recruiter shortlist. Rationale per score. Audit trail per pair.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17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50C94F-E0A4-4828-DD0D-2B573E1BF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" y="1783080"/>
            <a:ext cx="4458125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 ·  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focused home market. A continental prize.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NETHERLANDS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€100M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addressable, at maturity.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800K students  ·  50 institutions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183K graduates per year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424K SMEs  ·  the visibility tax to solve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EUROPE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0299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€2–3B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9834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addressable, at maturity.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971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~5M higher-ed graduates per year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 member states  ·  one EU AI Act regime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Replication, not reinvention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path  (bottom-up, conservative)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€60K ARR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Tilburg pilot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€1.65M ARR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Dutch scale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€13M+ ARR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4498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 rollout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 ·  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flywheel, not a portfolio.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revenue streams. One compounding loop.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97480" cy="256032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Employer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Freemium → SaaS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76809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posting and discovery for every Dutch employer. Paid tiers </a:t>
            </a:r>
            <a:r>
              <a:rPr lang="en-US" sz="1100" dirty="0">
                <a:solidFill>
                  <a:srgbClr val="D7DCEA"/>
                </a:solidFill>
                <a:latin typeface="DM Sans" pitchFamily="34" charset="0"/>
              </a:rPr>
              <a:t>unlock preference tailoring, employer </a:t>
            </a: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branding, and hiring analytics. The growth engine in Y1–2, the recurring base at scale.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697480" cy="256032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University licenses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€5K–€15K / institution / 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270546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Career-office software, cohort analytics, skills-gap intelligence. Not the revenue line — the moat and the qualification layer. Each university is worth multiples of its license in employer pull-through.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011680"/>
            <a:ext cx="2697480" cy="2560320"/>
          </a:xfrm>
          <a:prstGeom prst="rect">
            <a:avLst/>
          </a:prstGeom>
          <a:solidFill>
            <a:srgbClr val="1A3260">
              <a:alpha val="60000"/>
            </a:srgbClr>
          </a:solidFill>
          <a:ln w="9525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MARGIN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FFFFFF"/>
                </a:solidFill>
                <a:latin typeface="Playfair Display" pitchFamily="34" charset="0"/>
              </a:rPr>
              <a:t>Brand partnerships</a:t>
            </a:r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87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Add-on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12724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D7DCEA"/>
                </a:solidFill>
                <a:latin typeface="DM Sans" pitchFamily="34" charset="0"/>
              </a:rPr>
              <a:t>Employers pay to host curated events, branded workshops, and sponsored trips with pre-screened Rookies cohorts. The community is the moat; this is how it monetizes.</a:t>
            </a:r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 ·  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Universities first. Everything follows.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 distribution beats direct outbound at the early-career layer.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0391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Tilburg + 2 anchors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Founding team embedded at Tilburg. Academic advisor on faculty. Career Officer Console live. The founding cohort of Rookies is seeded.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2898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 14 research universities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898648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Replicate. Employer demand pulled by trusted university partners — no cold outbound. Default early-career layer of Dutch research-university system.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1304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2028+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All 50 institutions, then EU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3785616"/>
            <a:ext cx="35204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Universities of applied sciences. Belgium, Germany, the wider EU. Same playbook, multilingual matching engine.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Win universities first. Students follow. Employers follow. The network compounds.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 ·  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Everyone solves a fragment. </a:t>
            </a:r>
            <a:r>
              <a:rPr lang="en-US" sz="2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built the system.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3945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Matching Algorithm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</a:rPr>
              <a:t>Early career focused?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Uni-embedded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Community/ Longitudinal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153945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Officer tool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05210"/>
            <a:ext cx="8229600" cy="457200"/>
          </a:xfrm>
          <a:prstGeom prst="rect">
            <a:avLst/>
          </a:prstGeom>
          <a:solidFill>
            <a:srgbClr val="12274D">
              <a:alpha val="5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304" y="195093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CB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JobTeaser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AI - recruiters only</a:t>
            </a:r>
          </a:p>
        </p:txBody>
      </p:sp>
      <p:sp>
        <p:nvSpPr>
          <p:cNvPr id="16" name="Text 14"/>
          <p:cNvSpPr/>
          <p:nvPr/>
        </p:nvSpPr>
        <p:spPr>
          <a:xfrm>
            <a:off x="356616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17" name="Text 15"/>
          <p:cNvSpPr/>
          <p:nvPr/>
        </p:nvSpPr>
        <p:spPr>
          <a:xfrm>
            <a:off x="484632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Partial</a:t>
            </a:r>
          </a:p>
        </p:txBody>
      </p:sp>
      <p:sp>
        <p:nvSpPr>
          <p:cNvPr id="18" name="Text 16"/>
          <p:cNvSpPr/>
          <p:nvPr/>
        </p:nvSpPr>
        <p:spPr>
          <a:xfrm>
            <a:off x="612648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19" name="Text 17"/>
          <p:cNvSpPr/>
          <p:nvPr/>
        </p:nvSpPr>
        <p:spPr>
          <a:xfrm>
            <a:off x="7406640" y="195093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2408130"/>
            <a:ext cx="8229600" cy="457200"/>
          </a:xfrm>
          <a:prstGeom prst="rect">
            <a:avLst/>
          </a:prstGeom>
          <a:solidFill>
            <a:srgbClr val="12274D">
              <a:alpha val="5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" y="245385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CB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Magnet.me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Filters based</a:t>
            </a:r>
          </a:p>
        </p:txBody>
      </p:sp>
      <p:sp>
        <p:nvSpPr>
          <p:cNvPr id="23" name="Text 21"/>
          <p:cNvSpPr/>
          <p:nvPr/>
        </p:nvSpPr>
        <p:spPr>
          <a:xfrm>
            <a:off x="356616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Partial</a:t>
            </a:r>
          </a:p>
        </p:txBody>
      </p:sp>
      <p:sp>
        <p:nvSpPr>
          <p:cNvPr id="24" name="Text 22"/>
          <p:cNvSpPr/>
          <p:nvPr/>
        </p:nvSpPr>
        <p:spPr>
          <a:xfrm>
            <a:off x="484632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25" name="Text 23"/>
          <p:cNvSpPr/>
          <p:nvPr/>
        </p:nvSpPr>
        <p:spPr>
          <a:xfrm>
            <a:off x="612648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Partial</a:t>
            </a:r>
          </a:p>
        </p:txBody>
      </p:sp>
      <p:sp>
        <p:nvSpPr>
          <p:cNvPr id="26" name="Text 24"/>
          <p:cNvSpPr/>
          <p:nvPr/>
        </p:nvSpPr>
        <p:spPr>
          <a:xfrm>
            <a:off x="7406640" y="245385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27" name="Shape 25"/>
          <p:cNvSpPr/>
          <p:nvPr/>
        </p:nvSpPr>
        <p:spPr>
          <a:xfrm>
            <a:off x="457200" y="2911050"/>
            <a:ext cx="8229600" cy="457200"/>
          </a:xfrm>
          <a:prstGeom prst="rect">
            <a:avLst/>
          </a:prstGeom>
          <a:solidFill>
            <a:srgbClr val="12274D">
              <a:alpha val="5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3776" y="294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5CBD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LinkedIn / Indeed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Basic AI-LLM</a:t>
            </a:r>
          </a:p>
        </p:txBody>
      </p:sp>
      <p:sp>
        <p:nvSpPr>
          <p:cNvPr id="30" name="Text 28"/>
          <p:cNvSpPr/>
          <p:nvPr/>
        </p:nvSpPr>
        <p:spPr>
          <a:xfrm>
            <a:off x="356616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1" name="Text 29"/>
          <p:cNvSpPr/>
          <p:nvPr/>
        </p:nvSpPr>
        <p:spPr>
          <a:xfrm>
            <a:off x="484632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2" name="Text 30"/>
          <p:cNvSpPr/>
          <p:nvPr/>
        </p:nvSpPr>
        <p:spPr>
          <a:xfrm>
            <a:off x="612648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3" name="Text 31"/>
          <p:cNvSpPr/>
          <p:nvPr/>
        </p:nvSpPr>
        <p:spPr>
          <a:xfrm>
            <a:off x="7406640" y="295677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No</a:t>
            </a:r>
          </a:p>
        </p:txBody>
      </p:sp>
      <p:sp>
        <p:nvSpPr>
          <p:cNvPr id="34" name="Shape 32"/>
          <p:cNvSpPr/>
          <p:nvPr/>
        </p:nvSpPr>
        <p:spPr>
          <a:xfrm>
            <a:off x="457200" y="3413970"/>
            <a:ext cx="8229600" cy="457200"/>
          </a:xfrm>
          <a:prstGeom prst="rect">
            <a:avLst/>
          </a:prstGeom>
          <a:solidFill>
            <a:srgbClr val="1A3260">
              <a:alpha val="85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" y="3455933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</a:t>
            </a:r>
            <a:r>
              <a:rPr lang="en-US" sz="1400" b="1" dirty="0">
                <a:solidFill>
                  <a:srgbClr val="E9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</a:t>
            </a:r>
            <a:endParaRPr lang="en-US" sz="1400" dirty="0">
              <a:solidFill>
                <a:srgbClr val="E9622A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228600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5CBD8"/>
                </a:solidFill>
                <a:latin typeface="DM Sans" pitchFamily="34" charset="0"/>
              </a:rPr>
              <a:t>Econometric model + AI positioning + Market Optimization</a:t>
            </a:r>
          </a:p>
        </p:txBody>
      </p:sp>
      <p:sp>
        <p:nvSpPr>
          <p:cNvPr id="37" name="Text 35"/>
          <p:cNvSpPr/>
          <p:nvPr/>
        </p:nvSpPr>
        <p:spPr>
          <a:xfrm>
            <a:off x="356616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632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2648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06640" y="345969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JobTeaser last raised in 2019. Magnet.me has been capital-constrained since 2017. LinkedIn and Indeed aren't built for the early-career segment, and none of them optimizes the available market — different economics, different signal.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17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 · 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people, one architecture.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5030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r>
              <a:rPr lang="en-US" sz="1200" i="1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 built this because I lived this market. I watched friends spray-apply to three hundred jobs and end up working in something they didn't choose. The market doesn't have to be a lottery. The mathematics is solved. We just have to ship it.”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5009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55B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Dan Toma Poenaru, founder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97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Dan Toma Poenaru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Co-founder &amp; CEO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MSc Business Analytics &amp; OR, BSc IBA — Tilburg University. Designing the algorithm. Product, partnerships, fundraising.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697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Tudor Octavian Poenaru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Co-founder &amp; CTO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BSc Computer Science &amp; Engineering — TU Eindhoven. Leads the back-end, connectivity and deployment.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26974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697480" cy="4572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F3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Dr. Cristian Dobre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Academic Advisor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Associate Professor, Econometrics &amp; OR, Tilburg. Master Academic Director, Business Analytics &amp; OR (TiSEM). Advisor on the mathematics behind the matching algorithm.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21040" y="47777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00" dirty="0">
                <a:solidFill>
                  <a:srgbClr val="8A8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ROOKIES  ·  PITCH  · 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30352"/>
            <a:ext cx="73152" cy="73152"/>
          </a:xfrm>
          <a:prstGeom prst="ellipse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CB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 ·  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320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Rookies</a:t>
            </a:r>
            <a:r>
              <a:rPr lang="en-US" sz="2000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-2286000" y="3200400"/>
            <a:ext cx="5029200" cy="5029200"/>
          </a:xfrm>
          <a:prstGeom prst="ellipse">
            <a:avLst/>
          </a:prstGeom>
          <a:solidFill>
            <a:srgbClr val="E8622A">
              <a:alpha val="12000"/>
            </a:srgbClr>
          </a:solidFill>
          <a:ln w="12700">
            <a:solidFill>
              <a:srgbClr val="E862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-1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€250K SAFE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62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Pre-seed. 18 months runway. Five anchor pilots.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31920" cy="868680"/>
          </a:xfrm>
          <a:prstGeom prst="rect">
            <a:avLst/>
          </a:prstGeom>
          <a:solidFill>
            <a:srgbClr val="1A3260">
              <a:alpha val="6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798064"/>
            <a:ext cx="3566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Engineering hires to ship the math, reasoning, and market-clearing layers in production at pilot scale.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3931920" cy="868680"/>
          </a:xfrm>
          <a:prstGeom prst="rect">
            <a:avLst/>
          </a:prstGeom>
          <a:solidFill>
            <a:srgbClr val="1A3260">
              <a:alpha val="6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798064"/>
            <a:ext cx="3566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Events, content, and longitudinal engagement at the first five universities. The community is the moat.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31920" cy="868680"/>
          </a:xfrm>
          <a:prstGeom prst="rect">
            <a:avLst/>
          </a:prstGeom>
          <a:solidFill>
            <a:srgbClr val="1A3260">
              <a:alpha val="6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758184"/>
            <a:ext cx="3566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University BD across five anchors. The first 10,000 employers on the platform. 5% paid-conversion benchmark.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429000"/>
            <a:ext cx="3931920" cy="868680"/>
          </a:xfrm>
          <a:prstGeom prst="rect">
            <a:avLst/>
          </a:prstGeom>
          <a:solidFill>
            <a:srgbClr val="1A3260">
              <a:alpha val="60000"/>
            </a:srgbClr>
          </a:solidFill>
          <a:ln w="635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45720" cy="868680"/>
          </a:xfrm>
          <a:prstGeom prst="rect">
            <a:avLst/>
          </a:prstGeom>
          <a:solidFill>
            <a:srgbClr val="E8622A"/>
          </a:solidFill>
          <a:ln w="1270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2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758184"/>
            <a:ext cx="3566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7DC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Eighteen months to the milestones that unlock a Series A: signed pilots, ARR validation, paper published.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F0E6D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 five years, no graduate in Europe will find their first job through a CV black hole. They will find it as Rookies — in a system designed around the people in it, not around the algorithm sorting them.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1804</Words>
  <Application>Microsoft Macintosh PowerPoint</Application>
  <PresentationFormat>On-screen Show (16:9)</PresentationFormat>
  <Paragraphs>269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Rookies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Investor Pitch</dc:title>
  <dc:subject>PptxGenJS Presentation</dc:subject>
  <dc:creator>Dan Toma Poenaru</dc:creator>
  <cp:lastModifiedBy>Dan Poenaru</cp:lastModifiedBy>
  <cp:revision>8</cp:revision>
  <dcterms:created xsi:type="dcterms:W3CDTF">2026-05-25T16:14:41Z</dcterms:created>
  <dcterms:modified xsi:type="dcterms:W3CDTF">2026-05-29T10:03:39Z</dcterms:modified>
</cp:coreProperties>
</file>