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33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62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2011680"/>
            <a:ext cx="4754880" cy="4754880"/>
          </a:xfrm>
          <a:prstGeom prst="ellipse">
            <a:avLst/>
          </a:prstGeom>
          <a:solidFill>
            <a:srgbClr val="C04E1D">
              <a:alpha val="10000"/>
            </a:srgbClr>
          </a:solidFill>
          <a:ln w="12700">
            <a:solidFill>
              <a:srgbClr val="C04E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PROPOSAL  ·  BAOR 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 integrated matching system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 the BAOR Master.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E2D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Thesis allocation  ·  early-career matching  ·  career-services analytics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Analytics &amp; Operations Research  ·  TiSEM, Tilburg University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1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 the Rookies matching engine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 ·  THE IDEA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problems.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</a:t>
            </a:r>
            <a:r>
              <a:rPr lang="en-US" sz="56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mathematics.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BAOR master runs three allocation processes that are, structurally, the same problem: matching thesis students to topics and supervisors, matching graduates to first jobs, and guiding students toward the careers that fit them. Each is a two-sided matching market. Each is run by hand today. Mechanism design solves all three with one engine.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·  TODAY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the BAOR master allocates today.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processes, each run manually, none informed by the others.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2468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Thesis allocation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[INSERT CURRENT ALLOCATION METHOD]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…coordinators reconcile by hand. No shared view of fit, fairness, or capacity.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697480" cy="2468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97480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221284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Job placement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84448" y="288036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7DCEA"/>
                </a:solidFill>
                <a:latin typeface="DM Sans" pitchFamily="34" charset="0"/>
              </a:rPr>
              <a:t>Students apply by guesswork; employers screen by keyword; no one computes fit. The allocation is left to chance, and the program never sees where the cohort lands</a:t>
            </a:r>
            <a:r>
              <a:rPr lang="en-US" sz="1200" dirty="0"/>
              <a:t>.</a:t>
            </a:r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697480" cy="2468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697480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221284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Career guidance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10528" y="288036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Advising rests on intuition and last year's anecdotes — not on what this cohort's data, and the live labour market, actually show.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· 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Stable matching is solved mathematics.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department already teaches it. This proposal puts it to work inside the department.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31343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1962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8072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Gale &amp; Shapley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matching.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231343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84448" y="28072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Roth &amp; Shapley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Nobel Prize — market design as engineering.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0528" y="231343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10528" y="28072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NRMP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0528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37,667 doctors placed in a single match.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framework that places medical residents, allocates school seats, and clears kidney-exchange networks applies directly to thesis allocation and early-career hiring. The expertise to deploy it already sits in Econometrics &amp; OR.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· 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engine. One data layer. Three applications.</a:t>
            </a:r>
            <a:endParaRPr lang="en-US" sz="2600" dirty="0"/>
          </a:p>
        </p:txBody>
      </p:sp>
      <p:pic>
        <p:nvPicPr>
          <p:cNvPr id="5" name="Image 0" descr="/sessions/loving-bold-gates/mnt/outputs/deck/mockups/baor-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600200"/>
            <a:ext cx="7955280" cy="4211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·  PILLAR ONE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Thesis allocation as a matching market.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three-sided problem: students, topics, and the coordinators who own them.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rank topics. Coordinators express preferences over students and a supervision capacity. The algorithm returns a stable allocation — one in which no student and coordinator would both prefer to be matched to each other instead. It is the same many-to-one structure as the medical-residency match, with topics standing in for positions.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883664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334670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Fair &amp; stable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37033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back-room reshuffles. Every allocation is defensible.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78024" y="320040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78024" y="3200400"/>
            <a:ext cx="1883664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24328" y="334670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Less manual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4328" y="37033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Coordinators set preferences and capacity once — not weeks of email.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320040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98848" y="3200400"/>
            <a:ext cx="1883664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334670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Better-fit theses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37033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Matches reflect methodological fit, not who emailed first.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19672" y="3200400"/>
            <a:ext cx="188366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9672" y="3200400"/>
            <a:ext cx="1883664" cy="4572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65976" y="334670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65976" y="370332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assignment carries a reason. Transparent by construction.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·  PILLAR ONE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inbox to stable allocation.</a:t>
            </a:r>
            <a:endParaRPr lang="en-US" sz="2600" dirty="0"/>
          </a:p>
        </p:txBody>
      </p:sp>
      <p:pic>
        <p:nvPicPr>
          <p:cNvPr id="5" name="Image 0" descr="/sessions/loving-bold-gates/mnt/outputs/deck/mockups/baor-the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17320"/>
            <a:ext cx="8138160" cy="4547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·  PILLAR TWO  ·  JOBS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Early-career matching for BAOR graduates.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engine, pointed at the first job instead of the thesis.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8E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BAOR student builds one profile — courses, projects, skills, ambitions. The matching engine scores fit against live roles: a quantitative layer over structured features, and a reasoning layer for the qualitative signal that mathematics cannot capture. The student receives a short list of ranked, explained matches — five roles worth applying to, not a hundred to spray.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697480" cy="123444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Quantitative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Skills, courses, and project signal scored against role requirements. Deterministic and fast.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3383280"/>
            <a:ext cx="2697480" cy="123444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Reasoning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858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projects and self-descriptions for the qualitative fit, with a rationale for every score.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3383280"/>
            <a:ext cx="2697480" cy="123444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Explainable by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858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Per-pair transparency — aligned with the EU AI Act for high-risk recruitment systems.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·  PILLAR THREE  · 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career-services portal for BAOR.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Career Officer dashboard turns cohort data into decisions. Four tools.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77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5720" cy="137160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122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Match Analyzer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963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a student and a target role. See the match score, where the gaps are, and what to raise in the 1-on-1.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3977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45720" cy="137160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1122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 Pulse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4963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employers are searching for at Tilburg right now — trending skills, sector demand, hot roles. Refreshed weekly.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977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" cy="137160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75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Career Path Explorer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9593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a role. See the skills employers ask for, the backgrounds of students who placed, and what lifts an application.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3977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45720" cy="137160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753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Engagement &amp; At-risk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9593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Who's slipping, who's progressing, and where the team should focus outreach this week.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·  PILLAR THREE  ·  STUDENT 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BAOR student gets.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profile, built once, working across the whole student lifecycle.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" cy="621792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Ranked, explained thesis options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99339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Topics that fit the student's methods and interests — with the reason for each, not a first-come scramble.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45720" cy="621792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6883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Ranked, explained job matches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670048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short list of roles worth applying to, each with a rationale. No spray-applying.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45720" cy="621792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3649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clear view of skills gaps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34670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market asks for, what the student has, and the concrete steps that close the distance.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8229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0416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Continuity from thesis to first job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402336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profile and the same engine carry the student from topic selection through placement.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 · 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match teaches the system.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allocation and each placement feeds a longitudinal record: which student–topic matches produced strong theses, which placements held, what skills the market demanded and when. That record improves every future match — and it is, in itself, a research asset.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697480" cy="137160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8A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Better matches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2160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Outcome data tunes the engine. The next cohort's allocation is sharper than this one's.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3246120"/>
            <a:ext cx="2697480" cy="137160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8A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Program insight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72160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Skills-gap and placement signal feed curriculum and advising decisions with evidence.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2697480" cy="137160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8A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72160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dataset on revealed-preference matching under information asymmetry — publishable, and on the department's own line of work.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 · 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this earns an innovation grant.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5720" cy="54864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first in NL higher education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67335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application of stable-matching mechanism design to an integrated academic-and-career student lifecycle.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45720" cy="54864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276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Explainable by construction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26771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match carries a rationale — aligned with the EU AI Act's transparency rules for high-risk systems.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45720" cy="54864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871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research 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86207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publishable data on matching under information asymmetry, on the department's existing research 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45720" cy="54864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4655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Replicable across TiSEM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45643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once for BAOR, the architecture extends to every master's programme in the school.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45720" cy="548640"/>
          </a:xfrm>
          <a:prstGeom prst="rect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Concrete operational wins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05079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Coordinator hours saved, fairer thesis allocation, and measurable placement outcomes from year one.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 · 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phased pilot inside BAOR.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where the value is high and the risk is low: the thesis allocation.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568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5681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Thesis allocation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BAOR cohort. Internal, contained, measurable — coordinator hours and student satisfaction tracked against the manual baseline.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734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Job matching + 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6974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 the same engine to early-career roles for the cohort. Career Officer dashboard live for the BAOR career team.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C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112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04E1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5112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Full portal + research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Longitudinal tracking across cohorts. Outcome data feeds the matching paper and program-level decisions.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grant funds engineering, data integration, and an evaluation study against the manual baseline.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47777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INNOVATION PROPOSAL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C04E1D"/>
          </a:solidFill>
          <a:ln w="12700">
            <a:solidFill>
              <a:srgbClr val="C04E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 ·  VISION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286000" y="3108960"/>
            <a:ext cx="4937760" cy="4937760"/>
          </a:xfrm>
          <a:prstGeom prst="ellipse">
            <a:avLst/>
          </a:prstGeom>
          <a:solidFill>
            <a:srgbClr val="C04E1D">
              <a:alpha val="10000"/>
            </a:srgbClr>
          </a:solidFill>
          <a:ln w="12700">
            <a:solidFill>
              <a:srgbClr val="C04E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first programme with a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matched student lifecycle.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first thesis topic to the first job, every BAOR student allocated by the same mathematics the department teaches. Better outcomes for students, fewer manual hours for coordinators, and a dataset that turns the programme's own operations into research.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1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BAOR  ×  Rookies  ·  TiSEM, Tilburg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1383</Words>
  <Application>Microsoft Macintosh PowerPoint</Application>
  <PresentationFormat>On-screen Show (16:9)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BAOR Integrated Matching System — Innovation Proposal</dc:title>
  <dc:subject>PptxGenJS Presentation</dc:subject>
  <dc:creator>Dan Toma Poenaru</dc:creator>
  <cp:lastModifiedBy>Dan Poenaru</cp:lastModifiedBy>
  <cp:revision>3</cp:revision>
  <dcterms:created xsi:type="dcterms:W3CDTF">2026-06-02T13:10:51Z</dcterms:created>
  <dcterms:modified xsi:type="dcterms:W3CDTF">2026-06-02T15:54:32Z</dcterms:modified>
</cp:coreProperties>
</file>