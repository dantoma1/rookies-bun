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heme/themeOverride1.xml" ContentType="application/vnd.openxmlformats-officedocument.themeOverride+xml"/>
  <Override PartName="/ppt/notesSlides/notesSlide9.xml" ContentType="application/vnd.openxmlformats-officedocument.presentationml.notesSlide+xml"/>
  <Override PartName="/ppt/theme/themeOverride2.xml" ContentType="application/vnd.openxmlformats-officedocument.themeOverr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3" r:id="rId8"/>
    <p:sldId id="264" r:id="rId9"/>
    <p:sldId id="270" r:id="rId10"/>
    <p:sldId id="271" r:id="rId11"/>
    <p:sldId id="265" r:id="rId12"/>
    <p:sldId id="266" r:id="rId13"/>
    <p:sldId id="267"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91"/>
    <p:restoredTop sz="94610"/>
  </p:normalViewPr>
  <p:slideViewPr>
    <p:cSldViewPr snapToGrid="0" snapToObjects="1">
      <p:cViewPr varScale="1">
        <p:scale>
          <a:sx n="194" d="100"/>
          <a:sy n="194" d="100"/>
        </p:scale>
        <p:origin x="472"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76253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1CA3E5-AD74-562D-E619-2E22335E2C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032703-134C-5994-6CC1-CC49026B58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3B98C5-4FFA-DEBE-DD20-7AE36A8D5A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DDBDE8-31B5-5256-4E31-8BF093A54945}"/>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0430921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hemeOverride" Target="../theme/themeOverride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7040880" y="-2011680"/>
            <a:ext cx="4754880" cy="4754880"/>
          </a:xfrm>
          <a:prstGeom prst="ellipse">
            <a:avLst/>
          </a:prstGeom>
          <a:solidFill>
            <a:srgbClr val="C04E1D">
              <a:alpha val="10000"/>
            </a:srgbClr>
          </a:solidFill>
          <a:ln w="12700">
            <a:solidFill>
              <a:srgbClr val="C04E1D">
                <a:alpha val="0"/>
              </a:srgbClr>
            </a:solidFill>
            <a:prstDash val="solid"/>
          </a:ln>
        </p:spPr>
        <p:txBody>
          <a:bodyPr/>
          <a:lstStyle/>
          <a:p>
            <a:endParaRPr lang="en-US"/>
          </a:p>
        </p:txBody>
      </p:sp>
      <p:sp>
        <p:nvSpPr>
          <p:cNvPr id="3" name="Text 1"/>
          <p:cNvSpPr/>
          <p:nvPr/>
        </p:nvSpPr>
        <p:spPr>
          <a:xfrm>
            <a:off x="640080" y="960120"/>
            <a:ext cx="7863840" cy="274320"/>
          </a:xfrm>
          <a:prstGeom prst="rect">
            <a:avLst/>
          </a:prstGeom>
          <a:noFill/>
          <a:ln/>
        </p:spPr>
        <p:txBody>
          <a:bodyPr wrap="square" lIns="0" tIns="0" rIns="0" bIns="0" rtlCol="0" anchor="ctr"/>
          <a:lstStyle/>
          <a:p>
            <a:pPr marL="0" indent="0">
              <a:buNone/>
            </a:pPr>
            <a:r>
              <a:rPr lang="en-US" sz="1100" b="1" kern="0" spc="500" dirty="0">
                <a:solidFill>
                  <a:srgbClr val="C5CBD8"/>
                </a:solidFill>
                <a:latin typeface="DM Sans" pitchFamily="34" charset="0"/>
                <a:ea typeface="DM Sans" pitchFamily="34" charset="-122"/>
                <a:cs typeface="DM Sans" pitchFamily="34" charset="-120"/>
              </a:rPr>
              <a:t>INNOVATION PROPOSAL  ·  BAOR MASTER</a:t>
            </a:r>
            <a:endParaRPr lang="en-US" sz="1100" dirty="0"/>
          </a:p>
        </p:txBody>
      </p:sp>
      <p:sp>
        <p:nvSpPr>
          <p:cNvPr id="4" name="Text 2"/>
          <p:cNvSpPr/>
          <p:nvPr/>
        </p:nvSpPr>
        <p:spPr>
          <a:xfrm>
            <a:off x="640080" y="1481328"/>
            <a:ext cx="7955280" cy="1280160"/>
          </a:xfrm>
          <a:prstGeom prst="rect">
            <a:avLst/>
          </a:prstGeom>
          <a:noFill/>
          <a:ln/>
        </p:spPr>
        <p:txBody>
          <a:bodyPr wrap="square" lIns="0" tIns="0" rIns="0" bIns="0" rtlCol="0" anchor="ctr"/>
          <a:lstStyle/>
          <a:p>
            <a:pPr marL="0" indent="0">
              <a:lnSpc>
                <a:spcPct val="108000"/>
              </a:lnSpc>
              <a:buNone/>
            </a:pPr>
            <a:r>
              <a:rPr lang="en-US" sz="3600" dirty="0">
                <a:solidFill>
                  <a:srgbClr val="FFFFFF"/>
                </a:solidFill>
                <a:latin typeface="Playfair Display" pitchFamily="34" charset="0"/>
                <a:ea typeface="Playfair Display" pitchFamily="34" charset="-122"/>
                <a:cs typeface="Playfair Display" pitchFamily="34" charset="-120"/>
              </a:rPr>
              <a:t>An integrated matching system</a:t>
            </a:r>
            <a:endParaRPr lang="en-US" sz="3600" dirty="0"/>
          </a:p>
          <a:p>
            <a:pPr marL="0" indent="0">
              <a:lnSpc>
                <a:spcPct val="108000"/>
              </a:lnSpc>
              <a:buNone/>
            </a:pPr>
            <a:r>
              <a:rPr lang="en-US" sz="3600" dirty="0">
                <a:solidFill>
                  <a:srgbClr val="FFFFFF"/>
                </a:solidFill>
                <a:latin typeface="Playfair Display" pitchFamily="34" charset="0"/>
                <a:ea typeface="Playfair Display" pitchFamily="34" charset="-122"/>
                <a:cs typeface="Playfair Display" pitchFamily="34" charset="-120"/>
              </a:rPr>
              <a:t>for the BAOR Master.</a:t>
            </a:r>
            <a:endParaRPr lang="en-US" sz="3600" dirty="0"/>
          </a:p>
        </p:txBody>
      </p:sp>
      <p:sp>
        <p:nvSpPr>
          <p:cNvPr id="5" name="Text 3"/>
          <p:cNvSpPr/>
          <p:nvPr/>
        </p:nvSpPr>
        <p:spPr>
          <a:xfrm>
            <a:off x="640080" y="2971800"/>
            <a:ext cx="7863840" cy="548640"/>
          </a:xfrm>
          <a:prstGeom prst="rect">
            <a:avLst/>
          </a:prstGeom>
          <a:noFill/>
          <a:ln/>
        </p:spPr>
        <p:txBody>
          <a:bodyPr wrap="square" lIns="0" tIns="0" rIns="0" bIns="0" rtlCol="0" anchor="ctr"/>
          <a:lstStyle/>
          <a:p>
            <a:pPr marL="0" indent="0">
              <a:buNone/>
            </a:pPr>
            <a:r>
              <a:rPr lang="en-US" sz="1700" i="1" dirty="0">
                <a:solidFill>
                  <a:srgbClr val="E8E2D6"/>
                </a:solidFill>
                <a:latin typeface="Playfair Display" pitchFamily="34" charset="0"/>
                <a:ea typeface="Playfair Display" pitchFamily="34" charset="-122"/>
                <a:cs typeface="Playfair Display" pitchFamily="34" charset="-120"/>
              </a:rPr>
              <a:t>Thesis allocation  ·  Early-career matching  ·  Career-services analytics</a:t>
            </a:r>
            <a:endParaRPr lang="en-US" sz="1700" dirty="0"/>
          </a:p>
        </p:txBody>
      </p:sp>
      <p:sp>
        <p:nvSpPr>
          <p:cNvPr id="6" name="Text 4"/>
          <p:cNvSpPr/>
          <p:nvPr/>
        </p:nvSpPr>
        <p:spPr>
          <a:xfrm>
            <a:off x="640080" y="4160520"/>
            <a:ext cx="7863840" cy="274320"/>
          </a:xfrm>
          <a:prstGeom prst="rect">
            <a:avLst/>
          </a:prstGeom>
          <a:noFill/>
          <a:ln/>
        </p:spPr>
        <p:txBody>
          <a:bodyPr wrap="square" lIns="0" tIns="0" rIns="0" bIns="0" rtlCol="0" anchor="ctr"/>
          <a:lstStyle/>
          <a:p>
            <a:pPr marL="0" indent="0">
              <a:buNone/>
            </a:pPr>
            <a:r>
              <a:rPr lang="en-US" sz="1000" kern="0" spc="300" dirty="0">
                <a:solidFill>
                  <a:srgbClr val="C5CBD8"/>
                </a:solidFill>
                <a:latin typeface="DM Sans" pitchFamily="34" charset="0"/>
                <a:ea typeface="DM Sans" pitchFamily="34" charset="-122"/>
                <a:cs typeface="DM Sans" pitchFamily="34" charset="-120"/>
              </a:rPr>
              <a:t>Business Analytics &amp; Operations Research  ·  TiSEM, Tilburg University  ·  2026</a:t>
            </a:r>
            <a:endParaRPr lang="en-US" sz="1000" dirty="0"/>
          </a:p>
        </p:txBody>
      </p:sp>
      <p:sp>
        <p:nvSpPr>
          <p:cNvPr id="7" name="Text 5"/>
          <p:cNvSpPr/>
          <p:nvPr/>
        </p:nvSpPr>
        <p:spPr>
          <a:xfrm>
            <a:off x="640080" y="4462272"/>
            <a:ext cx="7863840" cy="274320"/>
          </a:xfrm>
          <a:prstGeom prst="rect">
            <a:avLst/>
          </a:prstGeom>
          <a:noFill/>
          <a:ln/>
        </p:spPr>
        <p:txBody>
          <a:bodyPr wrap="square" lIns="0" tIns="0" rIns="0" bIns="0" rtlCol="0" anchor="ctr"/>
          <a:lstStyle/>
          <a:p>
            <a:pPr marL="0" indent="0">
              <a:buNone/>
            </a:pPr>
            <a:r>
              <a:rPr lang="en-US" sz="900" i="1" dirty="0">
                <a:solidFill>
                  <a:srgbClr val="8AA1C5"/>
                </a:solidFill>
                <a:latin typeface="DM Sans" pitchFamily="34" charset="0"/>
                <a:ea typeface="DM Sans" pitchFamily="34" charset="-122"/>
                <a:cs typeface="DM Sans" pitchFamily="34" charset="-120"/>
              </a:rPr>
              <a:t>Built on the Rookies matching engine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01  ·  THE IDEA</a:t>
            </a:r>
            <a:endParaRPr lang="en-US" sz="900" dirty="0"/>
          </a:p>
        </p:txBody>
      </p:sp>
      <p:sp>
        <p:nvSpPr>
          <p:cNvPr id="4" name="Text 2"/>
          <p:cNvSpPr/>
          <p:nvPr/>
        </p:nvSpPr>
        <p:spPr>
          <a:xfrm>
            <a:off x="640080" y="851820"/>
            <a:ext cx="8229600" cy="822960"/>
          </a:xfrm>
          <a:prstGeom prst="rect">
            <a:avLst/>
          </a:prstGeom>
          <a:noFill/>
          <a:ln/>
        </p:spPr>
        <p:txBody>
          <a:bodyPr wrap="square" lIns="0" tIns="0" rIns="0" bIns="0" rtlCol="0" anchor="ctr"/>
          <a:lstStyle/>
          <a:p>
            <a:pPr marL="0" indent="0">
              <a:buNone/>
            </a:pPr>
            <a:r>
              <a:rPr lang="en-US" sz="5600" i="1" dirty="0">
                <a:solidFill>
                  <a:srgbClr val="0F1F3D"/>
                </a:solidFill>
                <a:latin typeface="Playfair Display" pitchFamily="34" charset="0"/>
                <a:ea typeface="Playfair Display" pitchFamily="34" charset="-122"/>
                <a:cs typeface="Playfair Display" pitchFamily="34" charset="-120"/>
              </a:rPr>
              <a:t>Three problems.</a:t>
            </a:r>
            <a:endParaRPr lang="en-US" sz="5600" dirty="0"/>
          </a:p>
        </p:txBody>
      </p:sp>
      <p:sp>
        <p:nvSpPr>
          <p:cNvPr id="5" name="Text 3"/>
          <p:cNvSpPr/>
          <p:nvPr/>
        </p:nvSpPr>
        <p:spPr>
          <a:xfrm>
            <a:off x="640080" y="1674780"/>
            <a:ext cx="8229600" cy="822960"/>
          </a:xfrm>
          <a:prstGeom prst="rect">
            <a:avLst/>
          </a:prstGeom>
          <a:noFill/>
          <a:ln/>
        </p:spPr>
        <p:txBody>
          <a:bodyPr wrap="square" lIns="0" tIns="0" rIns="0" bIns="0" rtlCol="0" anchor="ctr"/>
          <a:lstStyle/>
          <a:p>
            <a:pPr marL="0" indent="0">
              <a:buNone/>
            </a:pPr>
            <a:r>
              <a:rPr lang="en-US" sz="5600" i="1" dirty="0">
                <a:solidFill>
                  <a:srgbClr val="0F1F3D"/>
                </a:solidFill>
                <a:latin typeface="Playfair Display" pitchFamily="34" charset="0"/>
                <a:ea typeface="Playfair Display" pitchFamily="34" charset="-122"/>
                <a:cs typeface="Playfair Display" pitchFamily="34" charset="-120"/>
              </a:rPr>
              <a:t>One </a:t>
            </a:r>
            <a:r>
              <a:rPr lang="en-US" sz="5600" i="1" dirty="0">
                <a:solidFill>
                  <a:srgbClr val="C04E1D"/>
                </a:solidFill>
                <a:latin typeface="Playfair Display" pitchFamily="34" charset="0"/>
                <a:ea typeface="Playfair Display" pitchFamily="34" charset="-122"/>
                <a:cs typeface="Playfair Display" pitchFamily="34" charset="-120"/>
              </a:rPr>
              <a:t>mathematics.</a:t>
            </a:r>
            <a:endParaRPr lang="en-US" sz="5600" dirty="0"/>
          </a:p>
        </p:txBody>
      </p:sp>
      <p:sp>
        <p:nvSpPr>
          <p:cNvPr id="6" name="Text 4"/>
          <p:cNvSpPr/>
          <p:nvPr/>
        </p:nvSpPr>
        <p:spPr>
          <a:xfrm>
            <a:off x="640080" y="2987690"/>
            <a:ext cx="7863840" cy="1188720"/>
          </a:xfrm>
          <a:prstGeom prst="rect">
            <a:avLst/>
          </a:prstGeom>
          <a:noFill/>
          <a:ln/>
        </p:spPr>
        <p:txBody>
          <a:bodyPr wrap="square" lIns="0" tIns="0" rIns="0" bIns="0" rtlCol="0" anchor="ctr"/>
          <a:lstStyle/>
          <a:p>
            <a:pPr marL="0" indent="0">
              <a:lnSpc>
                <a:spcPct val="150000"/>
              </a:lnSpc>
              <a:buNone/>
            </a:pPr>
            <a:r>
              <a:rPr lang="en-US" sz="1500" dirty="0">
                <a:solidFill>
                  <a:srgbClr val="1A1A2E"/>
                </a:solidFill>
                <a:latin typeface="DM Sans" pitchFamily="34" charset="0"/>
                <a:ea typeface="DM Sans" pitchFamily="34" charset="-122"/>
                <a:cs typeface="DM Sans" pitchFamily="34" charset="-120"/>
              </a:rPr>
              <a:t>The BAOR master runs three allocation processes that are, structurally, the same problem: matching thesis students to topics and supervisors, matching graduates to first jobs, and guiding students toward the careers that fit them. Each is a two-sided matching market. Each is run by hand today. Mechanism design solves all three with one engine.</a:t>
            </a:r>
            <a:endParaRPr lang="en-US" sz="1500" dirty="0"/>
          </a:p>
        </p:txBody>
      </p:sp>
      <p:sp>
        <p:nvSpPr>
          <p:cNvPr id="7" name="Text 5"/>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2 / 14</a:t>
            </a:r>
            <a:endParaRPr lang="en-US" sz="900" dirty="0"/>
          </a:p>
        </p:txBody>
      </p:sp>
      <p:sp>
        <p:nvSpPr>
          <p:cNvPr id="8" name="Text 6"/>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C5CBD8"/>
                </a:solidFill>
                <a:latin typeface="DM Sans" pitchFamily="34" charset="0"/>
                <a:ea typeface="DM Sans" pitchFamily="34" charset="-122"/>
                <a:cs typeface="DM Sans" pitchFamily="34" charset="-120"/>
              </a:rPr>
              <a:t>02  ·  TODAY</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3000" dirty="0">
                <a:solidFill>
                  <a:srgbClr val="FFFFFF"/>
                </a:solidFill>
                <a:latin typeface="Playfair Display" pitchFamily="34" charset="0"/>
                <a:ea typeface="Playfair Display" pitchFamily="34" charset="-122"/>
                <a:cs typeface="Playfair Display" pitchFamily="34" charset="-120"/>
              </a:rPr>
              <a:t>How the BAOR master allocates today.</a:t>
            </a:r>
            <a:endParaRPr lang="en-US" sz="3000" dirty="0"/>
          </a:p>
        </p:txBody>
      </p:sp>
      <p:sp>
        <p:nvSpPr>
          <p:cNvPr id="5" name="Text 3"/>
          <p:cNvSpPr/>
          <p:nvPr/>
        </p:nvSpPr>
        <p:spPr>
          <a:xfrm>
            <a:off x="457200" y="1463040"/>
            <a:ext cx="8229600" cy="365760"/>
          </a:xfrm>
          <a:prstGeom prst="rect">
            <a:avLst/>
          </a:prstGeom>
          <a:noFill/>
          <a:ln/>
        </p:spPr>
        <p:txBody>
          <a:bodyPr wrap="square" lIns="0" tIns="0" rIns="0" bIns="0" rtlCol="0" anchor="ctr"/>
          <a:lstStyle/>
          <a:p>
            <a:pPr marL="0" indent="0">
              <a:buNone/>
            </a:pPr>
            <a:r>
              <a:rPr lang="en-US" sz="1300" i="1" dirty="0">
                <a:solidFill>
                  <a:srgbClr val="C5CBD8"/>
                </a:solidFill>
                <a:latin typeface="DM Sans" pitchFamily="34" charset="0"/>
                <a:ea typeface="DM Sans" pitchFamily="34" charset="-122"/>
                <a:cs typeface="DM Sans" pitchFamily="34" charset="-120"/>
              </a:rPr>
              <a:t>Three processes, each run manually, none informed by the others.</a:t>
            </a:r>
            <a:endParaRPr lang="en-US" sz="1300" dirty="0"/>
          </a:p>
        </p:txBody>
      </p:sp>
      <p:sp>
        <p:nvSpPr>
          <p:cNvPr id="6" name="Shape 4"/>
          <p:cNvSpPr/>
          <p:nvPr/>
        </p:nvSpPr>
        <p:spPr>
          <a:xfrm>
            <a:off x="457200" y="2011680"/>
            <a:ext cx="2697480" cy="2468880"/>
          </a:xfrm>
          <a:prstGeom prst="rect">
            <a:avLst/>
          </a:prstGeom>
          <a:solidFill>
            <a:srgbClr val="1A3260">
              <a:alpha val="60000"/>
            </a:srgbClr>
          </a:solidFill>
          <a:ln w="9525">
            <a:solidFill>
              <a:srgbClr val="2A4480"/>
            </a:solidFill>
            <a:prstDash val="solid"/>
          </a:ln>
        </p:spPr>
        <p:txBody>
          <a:bodyPr/>
          <a:lstStyle/>
          <a:p>
            <a:endParaRPr lang="en-US"/>
          </a:p>
        </p:txBody>
      </p:sp>
      <p:sp>
        <p:nvSpPr>
          <p:cNvPr id="7" name="Shape 5"/>
          <p:cNvSpPr/>
          <p:nvPr/>
        </p:nvSpPr>
        <p:spPr>
          <a:xfrm>
            <a:off x="457200" y="2011680"/>
            <a:ext cx="2697480" cy="45720"/>
          </a:xfrm>
          <a:prstGeom prst="rect">
            <a:avLst/>
          </a:prstGeom>
          <a:solidFill>
            <a:srgbClr val="C04E1D"/>
          </a:solidFill>
          <a:ln w="12700">
            <a:solidFill>
              <a:srgbClr val="C04E1D"/>
            </a:solidFill>
            <a:prstDash val="solid"/>
          </a:ln>
        </p:spPr>
        <p:txBody>
          <a:bodyPr/>
          <a:lstStyle/>
          <a:p>
            <a:endParaRPr lang="en-US"/>
          </a:p>
        </p:txBody>
      </p:sp>
      <p:sp>
        <p:nvSpPr>
          <p:cNvPr id="8" name="Text 6"/>
          <p:cNvSpPr/>
          <p:nvPr/>
        </p:nvSpPr>
        <p:spPr>
          <a:xfrm>
            <a:off x="658368" y="2212848"/>
            <a:ext cx="2295144" cy="640080"/>
          </a:xfrm>
          <a:prstGeom prst="rect">
            <a:avLst/>
          </a:prstGeom>
          <a:noFill/>
          <a:ln/>
        </p:spPr>
        <p:txBody>
          <a:bodyPr wrap="square" lIns="0" tIns="0" rIns="0" bIns="0" rtlCol="0" anchor="ctr"/>
          <a:lstStyle/>
          <a:p>
            <a:pPr marL="0" indent="0">
              <a:buNone/>
            </a:pPr>
            <a:r>
              <a:rPr lang="en-US" sz="1900" dirty="0">
                <a:solidFill>
                  <a:srgbClr val="FFFFFF"/>
                </a:solidFill>
                <a:latin typeface="Playfair Display" pitchFamily="34" charset="0"/>
                <a:ea typeface="Playfair Display" pitchFamily="34" charset="-122"/>
                <a:cs typeface="Playfair Display" pitchFamily="34" charset="-120"/>
              </a:rPr>
              <a:t>Thesis allocation</a:t>
            </a:r>
            <a:endParaRPr lang="en-US" sz="1900" dirty="0"/>
          </a:p>
        </p:txBody>
      </p:sp>
      <p:sp>
        <p:nvSpPr>
          <p:cNvPr id="9" name="Text 7"/>
          <p:cNvSpPr/>
          <p:nvPr/>
        </p:nvSpPr>
        <p:spPr>
          <a:xfrm>
            <a:off x="658368" y="2880360"/>
            <a:ext cx="2295144" cy="1463040"/>
          </a:xfrm>
          <a:prstGeom prst="rect">
            <a:avLst/>
          </a:prstGeom>
          <a:noFill/>
          <a:ln/>
        </p:spPr>
        <p:txBody>
          <a:bodyPr wrap="square" lIns="0" tIns="0" rIns="0" bIns="0" rtlCol="0" anchor="ctr"/>
          <a:lstStyle/>
          <a:p>
            <a:pPr marL="0" indent="0">
              <a:lnSpc>
                <a:spcPct val="140000"/>
              </a:lnSpc>
              <a:buNone/>
            </a:pPr>
            <a:r>
              <a:rPr lang="en-US" sz="1200" dirty="0">
                <a:solidFill>
                  <a:srgbClr val="D7DCEA"/>
                </a:solidFill>
                <a:latin typeface="DM Sans" pitchFamily="34" charset="0"/>
                <a:ea typeface="DM Sans" pitchFamily="34" charset="-122"/>
                <a:cs typeface="DM Sans" pitchFamily="34" charset="-120"/>
              </a:rPr>
              <a:t>[INSERT CURRENT ALLOCATION METHOD]</a:t>
            </a:r>
          </a:p>
          <a:p>
            <a:pPr marL="0" indent="0">
              <a:lnSpc>
                <a:spcPct val="140000"/>
              </a:lnSpc>
              <a:buNone/>
            </a:pPr>
            <a:r>
              <a:rPr lang="en-US" sz="1200" dirty="0">
                <a:solidFill>
                  <a:srgbClr val="D7DCEA"/>
                </a:solidFill>
                <a:latin typeface="DM Sans" pitchFamily="34" charset="0"/>
                <a:ea typeface="DM Sans" pitchFamily="34" charset="-122"/>
                <a:cs typeface="DM Sans" pitchFamily="34" charset="-120"/>
              </a:rPr>
              <a:t>…coordinators reconcile by hand. No shared view of fit, fairness, or capacity.</a:t>
            </a:r>
            <a:endParaRPr lang="en-US" sz="1200" dirty="0"/>
          </a:p>
        </p:txBody>
      </p:sp>
      <p:sp>
        <p:nvSpPr>
          <p:cNvPr id="10" name="Shape 8"/>
          <p:cNvSpPr/>
          <p:nvPr/>
        </p:nvSpPr>
        <p:spPr>
          <a:xfrm>
            <a:off x="3383280" y="2011680"/>
            <a:ext cx="2697480" cy="2468880"/>
          </a:xfrm>
          <a:prstGeom prst="rect">
            <a:avLst/>
          </a:prstGeom>
          <a:solidFill>
            <a:srgbClr val="1A3260">
              <a:alpha val="60000"/>
            </a:srgbClr>
          </a:solidFill>
          <a:ln w="9525">
            <a:solidFill>
              <a:srgbClr val="2A4480"/>
            </a:solidFill>
            <a:prstDash val="solid"/>
          </a:ln>
        </p:spPr>
        <p:txBody>
          <a:bodyPr/>
          <a:lstStyle/>
          <a:p>
            <a:endParaRPr lang="en-US"/>
          </a:p>
        </p:txBody>
      </p:sp>
      <p:sp>
        <p:nvSpPr>
          <p:cNvPr id="11" name="Shape 9"/>
          <p:cNvSpPr/>
          <p:nvPr/>
        </p:nvSpPr>
        <p:spPr>
          <a:xfrm>
            <a:off x="3383280" y="2011680"/>
            <a:ext cx="2697480" cy="45720"/>
          </a:xfrm>
          <a:prstGeom prst="rect">
            <a:avLst/>
          </a:prstGeom>
          <a:solidFill>
            <a:srgbClr val="C04E1D"/>
          </a:solidFill>
          <a:ln w="12700">
            <a:solidFill>
              <a:srgbClr val="C04E1D"/>
            </a:solidFill>
            <a:prstDash val="solid"/>
          </a:ln>
        </p:spPr>
        <p:txBody>
          <a:bodyPr/>
          <a:lstStyle/>
          <a:p>
            <a:endParaRPr lang="en-US"/>
          </a:p>
        </p:txBody>
      </p:sp>
      <p:sp>
        <p:nvSpPr>
          <p:cNvPr id="12" name="Text 10"/>
          <p:cNvSpPr/>
          <p:nvPr/>
        </p:nvSpPr>
        <p:spPr>
          <a:xfrm>
            <a:off x="3584448" y="2212848"/>
            <a:ext cx="2295144" cy="640080"/>
          </a:xfrm>
          <a:prstGeom prst="rect">
            <a:avLst/>
          </a:prstGeom>
          <a:noFill/>
          <a:ln/>
        </p:spPr>
        <p:txBody>
          <a:bodyPr wrap="square" lIns="0" tIns="0" rIns="0" bIns="0" rtlCol="0" anchor="ctr"/>
          <a:lstStyle/>
          <a:p>
            <a:pPr marL="0" indent="0">
              <a:buNone/>
            </a:pPr>
            <a:r>
              <a:rPr lang="en-US" sz="1900" dirty="0">
                <a:solidFill>
                  <a:srgbClr val="FFFFFF"/>
                </a:solidFill>
                <a:latin typeface="Playfair Display" pitchFamily="34" charset="0"/>
                <a:ea typeface="Playfair Display" pitchFamily="34" charset="-122"/>
                <a:cs typeface="Playfair Display" pitchFamily="34" charset="-120"/>
              </a:rPr>
              <a:t>Job placement</a:t>
            </a:r>
            <a:endParaRPr lang="en-US" sz="1900" dirty="0"/>
          </a:p>
        </p:txBody>
      </p:sp>
      <p:sp>
        <p:nvSpPr>
          <p:cNvPr id="13" name="Text 11"/>
          <p:cNvSpPr/>
          <p:nvPr/>
        </p:nvSpPr>
        <p:spPr>
          <a:xfrm>
            <a:off x="3584448" y="2880360"/>
            <a:ext cx="2295144" cy="1463040"/>
          </a:xfrm>
          <a:prstGeom prst="rect">
            <a:avLst/>
          </a:prstGeom>
          <a:noFill/>
          <a:ln/>
        </p:spPr>
        <p:txBody>
          <a:bodyPr wrap="square" lIns="0" tIns="0" rIns="0" bIns="0" rtlCol="0" anchor="ctr"/>
          <a:lstStyle/>
          <a:p>
            <a:pPr>
              <a:lnSpc>
                <a:spcPct val="140000"/>
              </a:lnSpc>
            </a:pPr>
            <a:r>
              <a:rPr lang="en-US" sz="1200" dirty="0">
                <a:solidFill>
                  <a:srgbClr val="D7DCEA"/>
                </a:solidFill>
                <a:latin typeface="DM Sans" pitchFamily="34" charset="0"/>
              </a:rPr>
              <a:t>Students apply by guesswork; employers screen by keyword; no one computes fit. The allocation is left to chance, and the program never sees where the cohort lands</a:t>
            </a:r>
            <a:r>
              <a:rPr lang="en-US" sz="1200" dirty="0"/>
              <a:t>.</a:t>
            </a:r>
          </a:p>
        </p:txBody>
      </p:sp>
      <p:sp>
        <p:nvSpPr>
          <p:cNvPr id="14" name="Shape 12"/>
          <p:cNvSpPr/>
          <p:nvPr/>
        </p:nvSpPr>
        <p:spPr>
          <a:xfrm>
            <a:off x="6309360" y="2011680"/>
            <a:ext cx="2697480" cy="2468880"/>
          </a:xfrm>
          <a:prstGeom prst="rect">
            <a:avLst/>
          </a:prstGeom>
          <a:solidFill>
            <a:srgbClr val="1A3260">
              <a:alpha val="60000"/>
            </a:srgbClr>
          </a:solidFill>
          <a:ln w="9525">
            <a:solidFill>
              <a:srgbClr val="2A4480"/>
            </a:solidFill>
            <a:prstDash val="solid"/>
          </a:ln>
        </p:spPr>
        <p:txBody>
          <a:bodyPr/>
          <a:lstStyle/>
          <a:p>
            <a:endParaRPr lang="en-US"/>
          </a:p>
        </p:txBody>
      </p:sp>
      <p:sp>
        <p:nvSpPr>
          <p:cNvPr id="15" name="Shape 13"/>
          <p:cNvSpPr/>
          <p:nvPr/>
        </p:nvSpPr>
        <p:spPr>
          <a:xfrm>
            <a:off x="6309360" y="2011680"/>
            <a:ext cx="2697480" cy="45720"/>
          </a:xfrm>
          <a:prstGeom prst="rect">
            <a:avLst/>
          </a:prstGeom>
          <a:solidFill>
            <a:srgbClr val="C04E1D"/>
          </a:solidFill>
          <a:ln w="12700">
            <a:solidFill>
              <a:srgbClr val="C04E1D"/>
            </a:solidFill>
            <a:prstDash val="solid"/>
          </a:ln>
        </p:spPr>
        <p:txBody>
          <a:bodyPr/>
          <a:lstStyle/>
          <a:p>
            <a:endParaRPr lang="en-US"/>
          </a:p>
        </p:txBody>
      </p:sp>
      <p:sp>
        <p:nvSpPr>
          <p:cNvPr id="16" name="Text 14"/>
          <p:cNvSpPr/>
          <p:nvPr/>
        </p:nvSpPr>
        <p:spPr>
          <a:xfrm>
            <a:off x="6510528" y="2212848"/>
            <a:ext cx="2295144" cy="640080"/>
          </a:xfrm>
          <a:prstGeom prst="rect">
            <a:avLst/>
          </a:prstGeom>
          <a:noFill/>
          <a:ln/>
        </p:spPr>
        <p:txBody>
          <a:bodyPr wrap="square" lIns="0" tIns="0" rIns="0" bIns="0" rtlCol="0" anchor="ctr"/>
          <a:lstStyle/>
          <a:p>
            <a:pPr marL="0" indent="0">
              <a:buNone/>
            </a:pPr>
            <a:r>
              <a:rPr lang="en-US" sz="1900" dirty="0">
                <a:solidFill>
                  <a:srgbClr val="FFFFFF"/>
                </a:solidFill>
                <a:latin typeface="Playfair Display" pitchFamily="34" charset="0"/>
                <a:ea typeface="Playfair Display" pitchFamily="34" charset="-122"/>
                <a:cs typeface="Playfair Display" pitchFamily="34" charset="-120"/>
              </a:rPr>
              <a:t>Career guidance</a:t>
            </a:r>
            <a:endParaRPr lang="en-US" sz="1900" dirty="0"/>
          </a:p>
        </p:txBody>
      </p:sp>
      <p:sp>
        <p:nvSpPr>
          <p:cNvPr id="17" name="Text 15"/>
          <p:cNvSpPr/>
          <p:nvPr/>
        </p:nvSpPr>
        <p:spPr>
          <a:xfrm>
            <a:off x="6510528" y="2880360"/>
            <a:ext cx="2295144" cy="1463040"/>
          </a:xfrm>
          <a:prstGeom prst="rect">
            <a:avLst/>
          </a:prstGeom>
          <a:noFill/>
          <a:ln/>
        </p:spPr>
        <p:txBody>
          <a:bodyPr wrap="square" lIns="0" tIns="0" rIns="0" bIns="0" rtlCol="0" anchor="ctr"/>
          <a:lstStyle/>
          <a:p>
            <a:pPr marL="0" indent="0">
              <a:lnSpc>
                <a:spcPct val="140000"/>
              </a:lnSpc>
              <a:buNone/>
            </a:pPr>
            <a:r>
              <a:rPr lang="en-US" sz="1200" dirty="0">
                <a:solidFill>
                  <a:srgbClr val="D7DCEA"/>
                </a:solidFill>
                <a:latin typeface="DM Sans" pitchFamily="34" charset="0"/>
                <a:ea typeface="DM Sans" pitchFamily="34" charset="-122"/>
                <a:cs typeface="DM Sans" pitchFamily="34" charset="-120"/>
              </a:rPr>
              <a:t>Advising rests on intuition and last year's anecdotes — not on what this cohort's data, and the live labour market, actually show.</a:t>
            </a:r>
            <a:endParaRPr lang="en-US" sz="1200" dirty="0"/>
          </a:p>
        </p:txBody>
      </p:sp>
      <p:sp>
        <p:nvSpPr>
          <p:cNvPr id="18" name="Text 16"/>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C5CBD8"/>
                </a:solidFill>
                <a:latin typeface="DM Sans" pitchFamily="34" charset="0"/>
                <a:ea typeface="DM Sans" pitchFamily="34" charset="-122"/>
                <a:cs typeface="DM Sans" pitchFamily="34" charset="-120"/>
              </a:rPr>
              <a:t>3 / 14</a:t>
            </a:r>
            <a:endParaRPr lang="en-US" sz="900" dirty="0"/>
          </a:p>
        </p:txBody>
      </p:sp>
      <p:sp>
        <p:nvSpPr>
          <p:cNvPr id="19" name="Text 17"/>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C5CBD8"/>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03  ·  FOUNDATION</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800" dirty="0">
                <a:solidFill>
                  <a:srgbClr val="0F1F3D"/>
                </a:solidFill>
                <a:latin typeface="Playfair Display" pitchFamily="34" charset="0"/>
                <a:ea typeface="Playfair Display" pitchFamily="34" charset="-122"/>
                <a:cs typeface="Playfair Display" pitchFamily="34" charset="-120"/>
              </a:rPr>
              <a:t>Stable matching is solved mathematics.</a:t>
            </a:r>
            <a:endParaRPr lang="en-US" sz="2800" dirty="0"/>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i="1" dirty="0">
                <a:solidFill>
                  <a:srgbClr val="555B6E"/>
                </a:solidFill>
                <a:latin typeface="DM Sans" pitchFamily="34" charset="0"/>
                <a:ea typeface="DM Sans" pitchFamily="34" charset="-122"/>
                <a:cs typeface="DM Sans" pitchFamily="34" charset="-120"/>
              </a:rPr>
              <a:t>The department already teaches it. This proposal puts it to work inside the department.</a:t>
            </a:r>
            <a:endParaRPr lang="en-US" sz="1300" dirty="0"/>
          </a:p>
        </p:txBody>
      </p:sp>
      <p:sp>
        <p:nvSpPr>
          <p:cNvPr id="6" name="Shape 4"/>
          <p:cNvSpPr/>
          <p:nvPr/>
        </p:nvSpPr>
        <p:spPr>
          <a:xfrm>
            <a:off x="457200" y="1973745"/>
            <a:ext cx="2697480" cy="1554480"/>
          </a:xfrm>
          <a:prstGeom prst="rect">
            <a:avLst/>
          </a:prstGeom>
          <a:solidFill>
            <a:srgbClr val="FFFFFF"/>
          </a:solidFill>
          <a:ln w="9525">
            <a:solidFill>
              <a:srgbClr val="CFCCC4"/>
            </a:solidFill>
            <a:prstDash val="solid"/>
          </a:ln>
        </p:spPr>
        <p:txBody>
          <a:bodyPr/>
          <a:lstStyle/>
          <a:p>
            <a:endParaRPr lang="en-US"/>
          </a:p>
        </p:txBody>
      </p:sp>
      <p:sp>
        <p:nvSpPr>
          <p:cNvPr id="7" name="Text 5"/>
          <p:cNvSpPr/>
          <p:nvPr/>
        </p:nvSpPr>
        <p:spPr>
          <a:xfrm>
            <a:off x="658368" y="2138337"/>
            <a:ext cx="2295144" cy="457200"/>
          </a:xfrm>
          <a:prstGeom prst="rect">
            <a:avLst/>
          </a:prstGeom>
          <a:noFill/>
          <a:ln/>
        </p:spPr>
        <p:txBody>
          <a:bodyPr wrap="square" lIns="0" tIns="0" rIns="0" bIns="0" rtlCol="0" anchor="ctr"/>
          <a:lstStyle/>
          <a:p>
            <a:pPr marL="0" indent="0">
              <a:buNone/>
            </a:pPr>
            <a:r>
              <a:rPr lang="en-US" sz="2600" i="1" dirty="0">
                <a:solidFill>
                  <a:srgbClr val="C04E1D"/>
                </a:solidFill>
                <a:latin typeface="Playfair Display" pitchFamily="34" charset="0"/>
                <a:ea typeface="Playfair Display" pitchFamily="34" charset="-122"/>
                <a:cs typeface="Playfair Display" pitchFamily="34" charset="-120"/>
              </a:rPr>
              <a:t>1962</a:t>
            </a:r>
            <a:endParaRPr lang="en-US" sz="2600" dirty="0"/>
          </a:p>
        </p:txBody>
      </p:sp>
      <p:sp>
        <p:nvSpPr>
          <p:cNvPr id="8" name="Text 6"/>
          <p:cNvSpPr/>
          <p:nvPr/>
        </p:nvSpPr>
        <p:spPr>
          <a:xfrm>
            <a:off x="658368" y="2632113"/>
            <a:ext cx="2295144" cy="365760"/>
          </a:xfrm>
          <a:prstGeom prst="rect">
            <a:avLst/>
          </a:prstGeom>
          <a:noFill/>
          <a:ln/>
        </p:spPr>
        <p:txBody>
          <a:bodyPr wrap="square" lIns="0" tIns="0" rIns="0" bIns="0" rtlCol="0" anchor="ctr"/>
          <a:lstStyle/>
          <a:p>
            <a:pPr marL="0" indent="0">
              <a:buNone/>
            </a:pPr>
            <a:r>
              <a:rPr lang="en-US" sz="1500" dirty="0">
                <a:solidFill>
                  <a:srgbClr val="0F1F3D"/>
                </a:solidFill>
                <a:latin typeface="Playfair Display" pitchFamily="34" charset="0"/>
                <a:ea typeface="Playfair Display" pitchFamily="34" charset="-122"/>
                <a:cs typeface="Playfair Display" pitchFamily="34" charset="-120"/>
              </a:rPr>
              <a:t>Gale &amp; Shapley</a:t>
            </a:r>
            <a:endParaRPr lang="en-US" sz="1500" dirty="0"/>
          </a:p>
        </p:txBody>
      </p:sp>
      <p:sp>
        <p:nvSpPr>
          <p:cNvPr id="9" name="Text 7"/>
          <p:cNvSpPr/>
          <p:nvPr/>
        </p:nvSpPr>
        <p:spPr>
          <a:xfrm>
            <a:off x="658368" y="2961297"/>
            <a:ext cx="2295144" cy="502920"/>
          </a:xfrm>
          <a:prstGeom prst="rect">
            <a:avLst/>
          </a:prstGeom>
          <a:noFill/>
          <a:ln/>
        </p:spPr>
        <p:txBody>
          <a:bodyPr wrap="square" lIns="0" tIns="0" rIns="0" bIns="0" rtlCol="0" anchor="ctr"/>
          <a:lstStyle/>
          <a:p>
            <a:pPr marL="0" indent="0">
              <a:lnSpc>
                <a:spcPct val="130000"/>
              </a:lnSpc>
              <a:buNone/>
            </a:pPr>
            <a:r>
              <a:rPr lang="en-US" sz="1100" dirty="0">
                <a:solidFill>
                  <a:srgbClr val="555B6E"/>
                </a:solidFill>
                <a:latin typeface="DM Sans" pitchFamily="34" charset="0"/>
                <a:ea typeface="DM Sans" pitchFamily="34" charset="-122"/>
                <a:cs typeface="DM Sans" pitchFamily="34" charset="-120"/>
              </a:rPr>
              <a:t>Stable matching.</a:t>
            </a:r>
            <a:endParaRPr lang="en-US" sz="1100" dirty="0"/>
          </a:p>
        </p:txBody>
      </p:sp>
      <p:sp>
        <p:nvSpPr>
          <p:cNvPr id="10" name="Shape 8"/>
          <p:cNvSpPr/>
          <p:nvPr/>
        </p:nvSpPr>
        <p:spPr>
          <a:xfrm>
            <a:off x="3383280" y="1973745"/>
            <a:ext cx="2697480" cy="1554480"/>
          </a:xfrm>
          <a:prstGeom prst="rect">
            <a:avLst/>
          </a:prstGeom>
          <a:solidFill>
            <a:srgbClr val="FFFFFF"/>
          </a:solidFill>
          <a:ln w="9525">
            <a:solidFill>
              <a:srgbClr val="CFCCC4"/>
            </a:solidFill>
            <a:prstDash val="solid"/>
          </a:ln>
        </p:spPr>
        <p:txBody>
          <a:bodyPr/>
          <a:lstStyle/>
          <a:p>
            <a:endParaRPr lang="en-US"/>
          </a:p>
        </p:txBody>
      </p:sp>
      <p:sp>
        <p:nvSpPr>
          <p:cNvPr id="11" name="Text 9"/>
          <p:cNvSpPr/>
          <p:nvPr/>
        </p:nvSpPr>
        <p:spPr>
          <a:xfrm>
            <a:off x="3584448" y="2138337"/>
            <a:ext cx="2295144" cy="457200"/>
          </a:xfrm>
          <a:prstGeom prst="rect">
            <a:avLst/>
          </a:prstGeom>
          <a:noFill/>
          <a:ln/>
        </p:spPr>
        <p:txBody>
          <a:bodyPr wrap="square" lIns="0" tIns="0" rIns="0" bIns="0" rtlCol="0" anchor="ctr"/>
          <a:lstStyle/>
          <a:p>
            <a:pPr marL="0" indent="0">
              <a:buNone/>
            </a:pPr>
            <a:r>
              <a:rPr lang="en-US" sz="2600" i="1" dirty="0">
                <a:solidFill>
                  <a:srgbClr val="C04E1D"/>
                </a:solidFill>
                <a:latin typeface="Playfair Display" pitchFamily="34" charset="0"/>
                <a:ea typeface="Playfair Display" pitchFamily="34" charset="-122"/>
                <a:cs typeface="Playfair Display" pitchFamily="34" charset="-120"/>
              </a:rPr>
              <a:t>2012</a:t>
            </a:r>
            <a:endParaRPr lang="en-US" sz="2600" dirty="0"/>
          </a:p>
        </p:txBody>
      </p:sp>
      <p:sp>
        <p:nvSpPr>
          <p:cNvPr id="12" name="Text 10"/>
          <p:cNvSpPr/>
          <p:nvPr/>
        </p:nvSpPr>
        <p:spPr>
          <a:xfrm>
            <a:off x="3584448" y="2632113"/>
            <a:ext cx="2295144" cy="365760"/>
          </a:xfrm>
          <a:prstGeom prst="rect">
            <a:avLst/>
          </a:prstGeom>
          <a:noFill/>
          <a:ln/>
        </p:spPr>
        <p:txBody>
          <a:bodyPr wrap="square" lIns="0" tIns="0" rIns="0" bIns="0" rtlCol="0" anchor="ctr"/>
          <a:lstStyle/>
          <a:p>
            <a:pPr marL="0" indent="0">
              <a:buNone/>
            </a:pPr>
            <a:r>
              <a:rPr lang="en-US" sz="1500" dirty="0">
                <a:solidFill>
                  <a:srgbClr val="0F1F3D"/>
                </a:solidFill>
                <a:latin typeface="Playfair Display" pitchFamily="34" charset="0"/>
                <a:ea typeface="Playfair Display" pitchFamily="34" charset="-122"/>
                <a:cs typeface="Playfair Display" pitchFamily="34" charset="-120"/>
              </a:rPr>
              <a:t>Roth &amp; Shapley</a:t>
            </a:r>
            <a:endParaRPr lang="en-US" sz="1500" dirty="0"/>
          </a:p>
        </p:txBody>
      </p:sp>
      <p:sp>
        <p:nvSpPr>
          <p:cNvPr id="13" name="Text 11"/>
          <p:cNvSpPr/>
          <p:nvPr/>
        </p:nvSpPr>
        <p:spPr>
          <a:xfrm>
            <a:off x="3584448" y="2961297"/>
            <a:ext cx="2295144" cy="502920"/>
          </a:xfrm>
          <a:prstGeom prst="rect">
            <a:avLst/>
          </a:prstGeom>
          <a:noFill/>
          <a:ln/>
        </p:spPr>
        <p:txBody>
          <a:bodyPr wrap="square" lIns="0" tIns="0" rIns="0" bIns="0" rtlCol="0" anchor="ctr"/>
          <a:lstStyle/>
          <a:p>
            <a:pPr marL="0" indent="0">
              <a:lnSpc>
                <a:spcPct val="130000"/>
              </a:lnSpc>
              <a:buNone/>
            </a:pPr>
            <a:r>
              <a:rPr lang="en-US" sz="1100" dirty="0">
                <a:solidFill>
                  <a:srgbClr val="555B6E"/>
                </a:solidFill>
                <a:latin typeface="DM Sans" pitchFamily="34" charset="0"/>
                <a:ea typeface="DM Sans" pitchFamily="34" charset="-122"/>
                <a:cs typeface="DM Sans" pitchFamily="34" charset="-120"/>
              </a:rPr>
              <a:t>Nobel Prize — market design as engineering.</a:t>
            </a:r>
            <a:endParaRPr lang="en-US" sz="1100" dirty="0"/>
          </a:p>
        </p:txBody>
      </p:sp>
      <p:sp>
        <p:nvSpPr>
          <p:cNvPr id="14" name="Shape 12"/>
          <p:cNvSpPr/>
          <p:nvPr/>
        </p:nvSpPr>
        <p:spPr>
          <a:xfrm>
            <a:off x="6309360" y="1973745"/>
            <a:ext cx="2697480" cy="1554480"/>
          </a:xfrm>
          <a:prstGeom prst="rect">
            <a:avLst/>
          </a:prstGeom>
          <a:solidFill>
            <a:srgbClr val="FFFFFF"/>
          </a:solidFill>
          <a:ln w="9525">
            <a:solidFill>
              <a:srgbClr val="CFCCC4"/>
            </a:solidFill>
            <a:prstDash val="solid"/>
          </a:ln>
        </p:spPr>
        <p:txBody>
          <a:bodyPr/>
          <a:lstStyle/>
          <a:p>
            <a:endParaRPr lang="en-US"/>
          </a:p>
        </p:txBody>
      </p:sp>
      <p:sp>
        <p:nvSpPr>
          <p:cNvPr id="15" name="Text 13"/>
          <p:cNvSpPr/>
          <p:nvPr/>
        </p:nvSpPr>
        <p:spPr>
          <a:xfrm>
            <a:off x="6510528" y="2138337"/>
            <a:ext cx="2295144" cy="457200"/>
          </a:xfrm>
          <a:prstGeom prst="rect">
            <a:avLst/>
          </a:prstGeom>
          <a:noFill/>
          <a:ln/>
        </p:spPr>
        <p:txBody>
          <a:bodyPr wrap="square" lIns="0" tIns="0" rIns="0" bIns="0" rtlCol="0" anchor="ctr"/>
          <a:lstStyle/>
          <a:p>
            <a:pPr marL="0" indent="0">
              <a:buNone/>
            </a:pPr>
            <a:r>
              <a:rPr lang="en-US" sz="2600" i="1" dirty="0">
                <a:solidFill>
                  <a:srgbClr val="C04E1D"/>
                </a:solidFill>
                <a:latin typeface="Playfair Display" pitchFamily="34" charset="0"/>
                <a:ea typeface="Playfair Display" pitchFamily="34" charset="-122"/>
                <a:cs typeface="Playfair Display" pitchFamily="34" charset="-120"/>
              </a:rPr>
              <a:t>2025</a:t>
            </a:r>
            <a:endParaRPr lang="en-US" sz="2600" dirty="0"/>
          </a:p>
        </p:txBody>
      </p:sp>
      <p:sp>
        <p:nvSpPr>
          <p:cNvPr id="16" name="Text 14"/>
          <p:cNvSpPr/>
          <p:nvPr/>
        </p:nvSpPr>
        <p:spPr>
          <a:xfrm>
            <a:off x="6510528" y="2632113"/>
            <a:ext cx="2295144" cy="365760"/>
          </a:xfrm>
          <a:prstGeom prst="rect">
            <a:avLst/>
          </a:prstGeom>
          <a:noFill/>
          <a:ln/>
        </p:spPr>
        <p:txBody>
          <a:bodyPr wrap="square" lIns="0" tIns="0" rIns="0" bIns="0" rtlCol="0" anchor="ctr"/>
          <a:lstStyle/>
          <a:p>
            <a:pPr marL="0" indent="0">
              <a:buNone/>
            </a:pPr>
            <a:r>
              <a:rPr lang="en-US" sz="1500" dirty="0">
                <a:solidFill>
                  <a:srgbClr val="0F1F3D"/>
                </a:solidFill>
                <a:latin typeface="Playfair Display" pitchFamily="34" charset="0"/>
                <a:ea typeface="Playfair Display" pitchFamily="34" charset="-122"/>
                <a:cs typeface="Playfair Display" pitchFamily="34" charset="-120"/>
              </a:rPr>
              <a:t>NRMP</a:t>
            </a:r>
            <a:endParaRPr lang="en-US" sz="1500" dirty="0"/>
          </a:p>
        </p:txBody>
      </p:sp>
      <p:sp>
        <p:nvSpPr>
          <p:cNvPr id="17" name="Text 15"/>
          <p:cNvSpPr/>
          <p:nvPr/>
        </p:nvSpPr>
        <p:spPr>
          <a:xfrm>
            <a:off x="6510528" y="2961297"/>
            <a:ext cx="2295144" cy="502920"/>
          </a:xfrm>
          <a:prstGeom prst="rect">
            <a:avLst/>
          </a:prstGeom>
          <a:noFill/>
          <a:ln/>
        </p:spPr>
        <p:txBody>
          <a:bodyPr wrap="square" lIns="0" tIns="0" rIns="0" bIns="0" rtlCol="0" anchor="ctr"/>
          <a:lstStyle/>
          <a:p>
            <a:pPr marL="0" indent="0">
              <a:lnSpc>
                <a:spcPct val="130000"/>
              </a:lnSpc>
              <a:buNone/>
            </a:pPr>
            <a:r>
              <a:rPr lang="en-US" sz="1100" dirty="0">
                <a:solidFill>
                  <a:srgbClr val="555B6E"/>
                </a:solidFill>
                <a:latin typeface="DM Sans" pitchFamily="34" charset="0"/>
                <a:ea typeface="DM Sans" pitchFamily="34" charset="-122"/>
                <a:cs typeface="DM Sans" pitchFamily="34" charset="-120"/>
              </a:rPr>
              <a:t>37,667 doctors placed in a single match.</a:t>
            </a:r>
            <a:endParaRPr lang="en-US" sz="1100" dirty="0"/>
          </a:p>
        </p:txBody>
      </p:sp>
      <p:sp>
        <p:nvSpPr>
          <p:cNvPr id="18" name="Text 16"/>
          <p:cNvSpPr/>
          <p:nvPr/>
        </p:nvSpPr>
        <p:spPr>
          <a:xfrm>
            <a:off x="457200" y="3757149"/>
            <a:ext cx="8229600" cy="731520"/>
          </a:xfrm>
          <a:prstGeom prst="rect">
            <a:avLst/>
          </a:prstGeom>
          <a:noFill/>
          <a:ln/>
        </p:spPr>
        <p:txBody>
          <a:bodyPr wrap="square" lIns="0" tIns="0" rIns="0" bIns="0" rtlCol="0" anchor="ctr"/>
          <a:lstStyle/>
          <a:p>
            <a:pPr marL="0" indent="0">
              <a:lnSpc>
                <a:spcPct val="145000"/>
              </a:lnSpc>
              <a:buNone/>
            </a:pPr>
            <a:r>
              <a:rPr lang="en-US" sz="1300" i="1" dirty="0">
                <a:solidFill>
                  <a:srgbClr val="1A1A2E"/>
                </a:solidFill>
                <a:latin typeface="DM Sans" pitchFamily="34" charset="0"/>
                <a:ea typeface="DM Sans" pitchFamily="34" charset="-122"/>
                <a:cs typeface="DM Sans" pitchFamily="34" charset="-120"/>
              </a:rPr>
              <a:t>The same framework that places medical residents, allocates school seats, and clears kidney-exchange networks applies directly to thesis allocation and early-career hiring. The expertise to deploy it already sits in Econometrics &amp; OR.</a:t>
            </a:r>
            <a:endParaRPr lang="en-US" sz="1300" dirty="0"/>
          </a:p>
        </p:txBody>
      </p:sp>
      <p:sp>
        <p:nvSpPr>
          <p:cNvPr id="19" name="Text 17"/>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4 / 14</a:t>
            </a:r>
            <a:endParaRPr lang="en-US" sz="900" dirty="0"/>
          </a:p>
        </p:txBody>
      </p:sp>
      <p:sp>
        <p:nvSpPr>
          <p:cNvPr id="20" name="Text 18"/>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04  ·  ARCHITECTURE</a:t>
            </a:r>
            <a:endParaRPr lang="en-US" sz="900" dirty="0"/>
          </a:p>
        </p:txBody>
      </p:sp>
      <p:sp>
        <p:nvSpPr>
          <p:cNvPr id="4" name="Text 2"/>
          <p:cNvSpPr/>
          <p:nvPr/>
        </p:nvSpPr>
        <p:spPr>
          <a:xfrm>
            <a:off x="457200" y="868680"/>
            <a:ext cx="8229600" cy="548640"/>
          </a:xfrm>
          <a:prstGeom prst="rect">
            <a:avLst/>
          </a:prstGeom>
          <a:noFill/>
          <a:ln/>
        </p:spPr>
        <p:txBody>
          <a:bodyPr wrap="square" lIns="0" tIns="0" rIns="0" bIns="0" rtlCol="0" anchor="ctr"/>
          <a:lstStyle/>
          <a:p>
            <a:pPr marL="0" indent="0">
              <a:buNone/>
            </a:pPr>
            <a:r>
              <a:rPr lang="en-US" sz="2600" dirty="0">
                <a:solidFill>
                  <a:srgbClr val="0F1F3D"/>
                </a:solidFill>
                <a:latin typeface="Playfair Display" pitchFamily="34" charset="0"/>
                <a:ea typeface="Playfair Display" pitchFamily="34" charset="-122"/>
                <a:cs typeface="Playfair Display" pitchFamily="34" charset="-120"/>
              </a:rPr>
              <a:t>One engine. One data layer. Three applications.</a:t>
            </a:r>
            <a:endParaRPr lang="en-US" sz="2600" dirty="0"/>
          </a:p>
        </p:txBody>
      </p:sp>
      <p:pic>
        <p:nvPicPr>
          <p:cNvPr id="5" name="Image 0" descr="/sessions/loving-bold-gates/mnt/outputs/deck/mockups/baor-arch.png"/>
          <p:cNvPicPr>
            <a:picLocks noChangeAspect="1"/>
          </p:cNvPicPr>
          <p:nvPr/>
        </p:nvPicPr>
        <p:blipFill>
          <a:blip r:embed="rId3"/>
          <a:srcRect t="8864" b="16162"/>
          <a:stretch>
            <a:fillRect/>
          </a:stretch>
        </p:blipFill>
        <p:spPr>
          <a:xfrm>
            <a:off x="594360" y="1414359"/>
            <a:ext cx="7955280" cy="3157641"/>
          </a:xfrm>
          <a:prstGeom prst="rect">
            <a:avLst/>
          </a:prstGeom>
        </p:spPr>
      </p:pic>
      <p:sp>
        <p:nvSpPr>
          <p:cNvPr id="6" name="Text 3"/>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5 / 14</a:t>
            </a:r>
            <a:endParaRPr lang="en-US" sz="900" dirty="0"/>
          </a:p>
        </p:txBody>
      </p:sp>
      <p:sp>
        <p:nvSpPr>
          <p:cNvPr id="7" name="Text 4"/>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05  ·  PILLAR ONE  ·  THESIS</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700" dirty="0">
                <a:solidFill>
                  <a:srgbClr val="0F1F3D"/>
                </a:solidFill>
                <a:latin typeface="Playfair Display" pitchFamily="34" charset="0"/>
                <a:ea typeface="Playfair Display" pitchFamily="34" charset="-122"/>
                <a:cs typeface="Playfair Display" pitchFamily="34" charset="-120"/>
              </a:rPr>
              <a:t>Thesis allocation as a matching market.</a:t>
            </a:r>
            <a:endParaRPr lang="en-US" sz="2700" dirty="0"/>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i="1" dirty="0">
                <a:solidFill>
                  <a:srgbClr val="555B6E"/>
                </a:solidFill>
                <a:latin typeface="DM Sans" pitchFamily="34" charset="0"/>
                <a:ea typeface="DM Sans" pitchFamily="34" charset="-122"/>
                <a:cs typeface="DM Sans" pitchFamily="34" charset="-120"/>
              </a:rPr>
              <a:t>A three-sided problem: students, topics, and the coordinators who own them.</a:t>
            </a:r>
            <a:endParaRPr lang="en-US" sz="1300" dirty="0"/>
          </a:p>
        </p:txBody>
      </p:sp>
      <p:sp>
        <p:nvSpPr>
          <p:cNvPr id="6" name="Text 4"/>
          <p:cNvSpPr/>
          <p:nvPr/>
        </p:nvSpPr>
        <p:spPr>
          <a:xfrm>
            <a:off x="457200" y="1874520"/>
            <a:ext cx="8229600" cy="1097280"/>
          </a:xfrm>
          <a:prstGeom prst="rect">
            <a:avLst/>
          </a:prstGeom>
          <a:noFill/>
          <a:ln/>
        </p:spPr>
        <p:txBody>
          <a:bodyPr wrap="square" lIns="0" tIns="0" rIns="0" bIns="0" rtlCol="0" anchor="ctr"/>
          <a:lstStyle/>
          <a:p>
            <a:pPr>
              <a:lnSpc>
                <a:spcPct val="145000"/>
              </a:lnSpc>
            </a:pPr>
            <a:r>
              <a:rPr lang="en-US" sz="1200" dirty="0"/>
              <a:t>Each student–topic pair receives a compatibility score from the matching engine, blending methodological fit, prior coursework, and stated interest. The algorithm then returns the assignment that maximizes total compatibility across the cohort, subject to each coordinator's supervision capacity and expertise. Individual fit and the strength of the cohort-wide allocation are produced together,  the best overall set of theses the </a:t>
            </a:r>
            <a:r>
              <a:rPr lang="en-US" sz="1200" dirty="0" err="1"/>
              <a:t>programme</a:t>
            </a:r>
            <a:r>
              <a:rPr lang="en-US" sz="1200" dirty="0"/>
              <a:t> can run this year.</a:t>
            </a:r>
          </a:p>
        </p:txBody>
      </p:sp>
      <p:sp>
        <p:nvSpPr>
          <p:cNvPr id="7" name="Shape 5"/>
          <p:cNvSpPr/>
          <p:nvPr/>
        </p:nvSpPr>
        <p:spPr>
          <a:xfrm>
            <a:off x="457200" y="3200400"/>
            <a:ext cx="1883664" cy="1280160"/>
          </a:xfrm>
          <a:prstGeom prst="rect">
            <a:avLst/>
          </a:prstGeom>
          <a:solidFill>
            <a:srgbClr val="FFFFFF"/>
          </a:solidFill>
          <a:ln w="9525">
            <a:solidFill>
              <a:srgbClr val="CFCCC4"/>
            </a:solidFill>
            <a:prstDash val="solid"/>
          </a:ln>
        </p:spPr>
        <p:txBody>
          <a:bodyPr/>
          <a:lstStyle/>
          <a:p>
            <a:endParaRPr lang="en-US"/>
          </a:p>
        </p:txBody>
      </p:sp>
      <p:sp>
        <p:nvSpPr>
          <p:cNvPr id="8" name="Shape 6"/>
          <p:cNvSpPr/>
          <p:nvPr/>
        </p:nvSpPr>
        <p:spPr>
          <a:xfrm>
            <a:off x="457200" y="3200400"/>
            <a:ext cx="1883664" cy="45720"/>
          </a:xfrm>
          <a:prstGeom prst="rect">
            <a:avLst/>
          </a:prstGeom>
          <a:solidFill>
            <a:srgbClr val="C04E1D"/>
          </a:solidFill>
          <a:ln w="12700">
            <a:solidFill>
              <a:srgbClr val="C04E1D"/>
            </a:solidFill>
            <a:prstDash val="solid"/>
          </a:ln>
        </p:spPr>
        <p:txBody>
          <a:bodyPr/>
          <a:lstStyle/>
          <a:p>
            <a:endParaRPr lang="en-US"/>
          </a:p>
        </p:txBody>
      </p:sp>
      <p:sp>
        <p:nvSpPr>
          <p:cNvPr id="9" name="Text 7"/>
          <p:cNvSpPr/>
          <p:nvPr/>
        </p:nvSpPr>
        <p:spPr>
          <a:xfrm>
            <a:off x="603504" y="3346704"/>
            <a:ext cx="1591056" cy="32004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Fair &amp; stable</a:t>
            </a:r>
            <a:endParaRPr lang="en-US" sz="1300" dirty="0"/>
          </a:p>
        </p:txBody>
      </p:sp>
      <p:sp>
        <p:nvSpPr>
          <p:cNvPr id="10" name="Text 8"/>
          <p:cNvSpPr/>
          <p:nvPr/>
        </p:nvSpPr>
        <p:spPr>
          <a:xfrm>
            <a:off x="603504" y="3703320"/>
            <a:ext cx="1591056" cy="685800"/>
          </a:xfrm>
          <a:prstGeom prst="rect">
            <a:avLst/>
          </a:prstGeom>
          <a:noFill/>
          <a:ln/>
        </p:spPr>
        <p:txBody>
          <a:bodyPr wrap="square" lIns="0" tIns="0" rIns="0" bIns="0" rtlCol="0" anchor="ctr"/>
          <a:lstStyle/>
          <a:p>
            <a:pPr marL="0" indent="0">
              <a:lnSpc>
                <a:spcPct val="130000"/>
              </a:lnSpc>
              <a:buNone/>
            </a:pPr>
            <a:r>
              <a:rPr lang="en-US" sz="1000" dirty="0">
                <a:solidFill>
                  <a:srgbClr val="555B6E"/>
                </a:solidFill>
                <a:latin typeface="DM Sans" pitchFamily="34" charset="0"/>
                <a:ea typeface="DM Sans" pitchFamily="34" charset="-122"/>
                <a:cs typeface="DM Sans" pitchFamily="34" charset="-120"/>
              </a:rPr>
              <a:t>No back-room reshuffles. Every allocation is defensible.</a:t>
            </a:r>
            <a:endParaRPr lang="en-US" sz="1000" dirty="0"/>
          </a:p>
        </p:txBody>
      </p:sp>
      <p:sp>
        <p:nvSpPr>
          <p:cNvPr id="11" name="Shape 9"/>
          <p:cNvSpPr/>
          <p:nvPr/>
        </p:nvSpPr>
        <p:spPr>
          <a:xfrm>
            <a:off x="2478024" y="3200400"/>
            <a:ext cx="1883664" cy="1280160"/>
          </a:xfrm>
          <a:prstGeom prst="rect">
            <a:avLst/>
          </a:prstGeom>
          <a:solidFill>
            <a:srgbClr val="FFFFFF"/>
          </a:solidFill>
          <a:ln w="9525">
            <a:solidFill>
              <a:srgbClr val="CFCCC4"/>
            </a:solidFill>
            <a:prstDash val="solid"/>
          </a:ln>
        </p:spPr>
        <p:txBody>
          <a:bodyPr/>
          <a:lstStyle/>
          <a:p>
            <a:endParaRPr lang="en-US"/>
          </a:p>
        </p:txBody>
      </p:sp>
      <p:sp>
        <p:nvSpPr>
          <p:cNvPr id="12" name="Shape 10"/>
          <p:cNvSpPr/>
          <p:nvPr/>
        </p:nvSpPr>
        <p:spPr>
          <a:xfrm>
            <a:off x="2478024" y="3200400"/>
            <a:ext cx="1883664" cy="45720"/>
          </a:xfrm>
          <a:prstGeom prst="rect">
            <a:avLst/>
          </a:prstGeom>
          <a:solidFill>
            <a:srgbClr val="C04E1D"/>
          </a:solidFill>
          <a:ln w="12700">
            <a:solidFill>
              <a:srgbClr val="C04E1D"/>
            </a:solidFill>
            <a:prstDash val="solid"/>
          </a:ln>
        </p:spPr>
        <p:txBody>
          <a:bodyPr/>
          <a:lstStyle/>
          <a:p>
            <a:endParaRPr lang="en-US"/>
          </a:p>
        </p:txBody>
      </p:sp>
      <p:sp>
        <p:nvSpPr>
          <p:cNvPr id="13" name="Text 11"/>
          <p:cNvSpPr/>
          <p:nvPr/>
        </p:nvSpPr>
        <p:spPr>
          <a:xfrm>
            <a:off x="2624328" y="3346704"/>
            <a:ext cx="1591056" cy="32004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Less manual work</a:t>
            </a:r>
            <a:endParaRPr lang="en-US" sz="1300" dirty="0"/>
          </a:p>
        </p:txBody>
      </p:sp>
      <p:sp>
        <p:nvSpPr>
          <p:cNvPr id="14" name="Text 12"/>
          <p:cNvSpPr/>
          <p:nvPr/>
        </p:nvSpPr>
        <p:spPr>
          <a:xfrm>
            <a:off x="2624328" y="3703320"/>
            <a:ext cx="1591056" cy="685800"/>
          </a:xfrm>
          <a:prstGeom prst="rect">
            <a:avLst/>
          </a:prstGeom>
          <a:noFill/>
          <a:ln/>
        </p:spPr>
        <p:txBody>
          <a:bodyPr wrap="square" lIns="0" tIns="0" rIns="0" bIns="0" rtlCol="0" anchor="ctr"/>
          <a:lstStyle/>
          <a:p>
            <a:pPr marL="0" indent="0">
              <a:lnSpc>
                <a:spcPct val="130000"/>
              </a:lnSpc>
              <a:buNone/>
            </a:pPr>
            <a:r>
              <a:rPr lang="en-US" sz="1000" dirty="0">
                <a:solidFill>
                  <a:srgbClr val="555B6E"/>
                </a:solidFill>
                <a:latin typeface="DM Sans" pitchFamily="34" charset="0"/>
                <a:ea typeface="DM Sans" pitchFamily="34" charset="-122"/>
                <a:cs typeface="DM Sans" pitchFamily="34" charset="-120"/>
              </a:rPr>
              <a:t>Coordinators set preferences and capacity once — not weeks of email.</a:t>
            </a:r>
            <a:endParaRPr lang="en-US" sz="1000" dirty="0"/>
          </a:p>
        </p:txBody>
      </p:sp>
      <p:sp>
        <p:nvSpPr>
          <p:cNvPr id="15" name="Shape 13"/>
          <p:cNvSpPr/>
          <p:nvPr/>
        </p:nvSpPr>
        <p:spPr>
          <a:xfrm>
            <a:off x="4498848" y="3200400"/>
            <a:ext cx="1883664" cy="1280160"/>
          </a:xfrm>
          <a:prstGeom prst="rect">
            <a:avLst/>
          </a:prstGeom>
          <a:solidFill>
            <a:srgbClr val="FFFFFF"/>
          </a:solidFill>
          <a:ln w="9525">
            <a:solidFill>
              <a:srgbClr val="CFCCC4"/>
            </a:solidFill>
            <a:prstDash val="solid"/>
          </a:ln>
        </p:spPr>
        <p:txBody>
          <a:bodyPr/>
          <a:lstStyle/>
          <a:p>
            <a:endParaRPr lang="en-US"/>
          </a:p>
        </p:txBody>
      </p:sp>
      <p:sp>
        <p:nvSpPr>
          <p:cNvPr id="16" name="Shape 14"/>
          <p:cNvSpPr/>
          <p:nvPr/>
        </p:nvSpPr>
        <p:spPr>
          <a:xfrm>
            <a:off x="4498848" y="3200400"/>
            <a:ext cx="1883664" cy="45720"/>
          </a:xfrm>
          <a:prstGeom prst="rect">
            <a:avLst/>
          </a:prstGeom>
          <a:solidFill>
            <a:srgbClr val="C04E1D"/>
          </a:solidFill>
          <a:ln w="12700">
            <a:solidFill>
              <a:srgbClr val="C04E1D"/>
            </a:solidFill>
            <a:prstDash val="solid"/>
          </a:ln>
        </p:spPr>
        <p:txBody>
          <a:bodyPr/>
          <a:lstStyle/>
          <a:p>
            <a:endParaRPr lang="en-US"/>
          </a:p>
        </p:txBody>
      </p:sp>
      <p:sp>
        <p:nvSpPr>
          <p:cNvPr id="17" name="Text 15"/>
          <p:cNvSpPr/>
          <p:nvPr/>
        </p:nvSpPr>
        <p:spPr>
          <a:xfrm>
            <a:off x="4645152" y="3346704"/>
            <a:ext cx="1591056" cy="32004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Better-fit theses</a:t>
            </a:r>
            <a:endParaRPr lang="en-US" sz="1300" dirty="0"/>
          </a:p>
        </p:txBody>
      </p:sp>
      <p:sp>
        <p:nvSpPr>
          <p:cNvPr id="18" name="Text 16"/>
          <p:cNvSpPr/>
          <p:nvPr/>
        </p:nvSpPr>
        <p:spPr>
          <a:xfrm>
            <a:off x="4645152" y="3703320"/>
            <a:ext cx="1591056" cy="685800"/>
          </a:xfrm>
          <a:prstGeom prst="rect">
            <a:avLst/>
          </a:prstGeom>
          <a:noFill/>
          <a:ln/>
        </p:spPr>
        <p:txBody>
          <a:bodyPr wrap="square" lIns="0" tIns="0" rIns="0" bIns="0" rtlCol="0" anchor="ctr"/>
          <a:lstStyle/>
          <a:p>
            <a:pPr marL="0" indent="0">
              <a:lnSpc>
                <a:spcPct val="130000"/>
              </a:lnSpc>
              <a:buNone/>
            </a:pPr>
            <a:r>
              <a:rPr lang="en-US" sz="1000" dirty="0">
                <a:solidFill>
                  <a:srgbClr val="555B6E"/>
                </a:solidFill>
                <a:latin typeface="DM Sans" pitchFamily="34" charset="0"/>
                <a:ea typeface="DM Sans" pitchFamily="34" charset="-122"/>
                <a:cs typeface="DM Sans" pitchFamily="34" charset="-120"/>
              </a:rPr>
              <a:t>Matches reflect methodological fit, not who emailed first.</a:t>
            </a:r>
            <a:endParaRPr lang="en-US" sz="1000" dirty="0"/>
          </a:p>
        </p:txBody>
      </p:sp>
      <p:sp>
        <p:nvSpPr>
          <p:cNvPr id="19" name="Shape 17"/>
          <p:cNvSpPr/>
          <p:nvPr/>
        </p:nvSpPr>
        <p:spPr>
          <a:xfrm>
            <a:off x="6519672" y="3200400"/>
            <a:ext cx="1883664" cy="1280160"/>
          </a:xfrm>
          <a:prstGeom prst="rect">
            <a:avLst/>
          </a:prstGeom>
          <a:solidFill>
            <a:srgbClr val="FFFFFF"/>
          </a:solidFill>
          <a:ln w="9525">
            <a:solidFill>
              <a:srgbClr val="CFCCC4"/>
            </a:solidFill>
            <a:prstDash val="solid"/>
          </a:ln>
        </p:spPr>
        <p:txBody>
          <a:bodyPr/>
          <a:lstStyle/>
          <a:p>
            <a:endParaRPr lang="en-US"/>
          </a:p>
        </p:txBody>
      </p:sp>
      <p:sp>
        <p:nvSpPr>
          <p:cNvPr id="20" name="Shape 18"/>
          <p:cNvSpPr/>
          <p:nvPr/>
        </p:nvSpPr>
        <p:spPr>
          <a:xfrm>
            <a:off x="6519672" y="3200400"/>
            <a:ext cx="1883664" cy="45720"/>
          </a:xfrm>
          <a:prstGeom prst="rect">
            <a:avLst/>
          </a:prstGeom>
          <a:solidFill>
            <a:srgbClr val="C04E1D"/>
          </a:solidFill>
          <a:ln w="12700">
            <a:solidFill>
              <a:srgbClr val="C04E1D"/>
            </a:solidFill>
            <a:prstDash val="solid"/>
          </a:ln>
        </p:spPr>
        <p:txBody>
          <a:bodyPr/>
          <a:lstStyle/>
          <a:p>
            <a:endParaRPr lang="en-US"/>
          </a:p>
        </p:txBody>
      </p:sp>
      <p:sp>
        <p:nvSpPr>
          <p:cNvPr id="21" name="Text 19"/>
          <p:cNvSpPr/>
          <p:nvPr/>
        </p:nvSpPr>
        <p:spPr>
          <a:xfrm>
            <a:off x="6665976" y="3346704"/>
            <a:ext cx="1591056" cy="32004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Auditable</a:t>
            </a:r>
            <a:endParaRPr lang="en-US" sz="1300" dirty="0"/>
          </a:p>
        </p:txBody>
      </p:sp>
      <p:sp>
        <p:nvSpPr>
          <p:cNvPr id="22" name="Text 20"/>
          <p:cNvSpPr/>
          <p:nvPr/>
        </p:nvSpPr>
        <p:spPr>
          <a:xfrm>
            <a:off x="6665976" y="3703320"/>
            <a:ext cx="1591056" cy="685800"/>
          </a:xfrm>
          <a:prstGeom prst="rect">
            <a:avLst/>
          </a:prstGeom>
          <a:noFill/>
          <a:ln/>
        </p:spPr>
        <p:txBody>
          <a:bodyPr wrap="square" lIns="0" tIns="0" rIns="0" bIns="0" rtlCol="0" anchor="ctr"/>
          <a:lstStyle/>
          <a:p>
            <a:pPr marL="0" indent="0">
              <a:lnSpc>
                <a:spcPct val="130000"/>
              </a:lnSpc>
              <a:buNone/>
            </a:pPr>
            <a:r>
              <a:rPr lang="en-US" sz="1000" dirty="0">
                <a:solidFill>
                  <a:srgbClr val="555B6E"/>
                </a:solidFill>
                <a:latin typeface="DM Sans" pitchFamily="34" charset="0"/>
                <a:ea typeface="DM Sans" pitchFamily="34" charset="-122"/>
                <a:cs typeface="DM Sans" pitchFamily="34" charset="-120"/>
              </a:rPr>
              <a:t>Every assignment carries a reason. Transparent by construction.</a:t>
            </a:r>
            <a:endParaRPr lang="en-US" sz="1000" dirty="0"/>
          </a:p>
        </p:txBody>
      </p:sp>
      <p:sp>
        <p:nvSpPr>
          <p:cNvPr id="23" name="Text 21"/>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6 / 14</a:t>
            </a:r>
            <a:endParaRPr lang="en-US" sz="900" dirty="0"/>
          </a:p>
        </p:txBody>
      </p:sp>
      <p:sp>
        <p:nvSpPr>
          <p:cNvPr id="24" name="Text 22"/>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C5CBD8"/>
                </a:solidFill>
                <a:latin typeface="DM Sans" pitchFamily="34" charset="0"/>
                <a:ea typeface="DM Sans" pitchFamily="34" charset="-122"/>
                <a:cs typeface="DM Sans" pitchFamily="34" charset="-120"/>
              </a:rPr>
              <a:t>06  ·  PILLAR TWO  ·  JOBS</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700" dirty="0">
                <a:solidFill>
                  <a:srgbClr val="FFFFFF"/>
                </a:solidFill>
                <a:latin typeface="Playfair Display" pitchFamily="34" charset="0"/>
                <a:ea typeface="Playfair Display" pitchFamily="34" charset="-122"/>
                <a:cs typeface="Playfair Display" pitchFamily="34" charset="-120"/>
              </a:rPr>
              <a:t>Early-career matching for BAOR graduates.</a:t>
            </a:r>
            <a:endParaRPr lang="en-US" sz="2700" dirty="0"/>
          </a:p>
        </p:txBody>
      </p:sp>
      <p:sp>
        <p:nvSpPr>
          <p:cNvPr id="5" name="Text 3"/>
          <p:cNvSpPr/>
          <p:nvPr/>
        </p:nvSpPr>
        <p:spPr>
          <a:xfrm>
            <a:off x="457200" y="1463040"/>
            <a:ext cx="8229600" cy="365760"/>
          </a:xfrm>
          <a:prstGeom prst="rect">
            <a:avLst/>
          </a:prstGeom>
          <a:noFill/>
          <a:ln/>
        </p:spPr>
        <p:txBody>
          <a:bodyPr wrap="square" lIns="0" tIns="0" rIns="0" bIns="0" rtlCol="0" anchor="ctr"/>
          <a:lstStyle/>
          <a:p>
            <a:pPr marL="0" indent="0">
              <a:buNone/>
            </a:pPr>
            <a:r>
              <a:rPr lang="en-US" sz="1300" i="1" dirty="0">
                <a:solidFill>
                  <a:srgbClr val="C5CBD8"/>
                </a:solidFill>
                <a:latin typeface="DM Sans" pitchFamily="34" charset="0"/>
                <a:ea typeface="DM Sans" pitchFamily="34" charset="-122"/>
                <a:cs typeface="DM Sans" pitchFamily="34" charset="-120"/>
              </a:rPr>
              <a:t>The same engine, pointed at the first job instead of the thesis.</a:t>
            </a:r>
            <a:endParaRPr lang="en-US" sz="1300" dirty="0"/>
          </a:p>
        </p:txBody>
      </p:sp>
      <p:sp>
        <p:nvSpPr>
          <p:cNvPr id="6" name="Text 4"/>
          <p:cNvSpPr/>
          <p:nvPr/>
        </p:nvSpPr>
        <p:spPr>
          <a:xfrm>
            <a:off x="457200" y="1965960"/>
            <a:ext cx="8229600" cy="1188720"/>
          </a:xfrm>
          <a:prstGeom prst="rect">
            <a:avLst/>
          </a:prstGeom>
          <a:noFill/>
          <a:ln/>
        </p:spPr>
        <p:txBody>
          <a:bodyPr wrap="square" lIns="0" tIns="0" rIns="0" bIns="0" rtlCol="0" anchor="ctr"/>
          <a:lstStyle/>
          <a:p>
            <a:pPr marL="0" indent="0">
              <a:lnSpc>
                <a:spcPct val="145000"/>
              </a:lnSpc>
              <a:buNone/>
            </a:pPr>
            <a:r>
              <a:rPr lang="en-US" sz="1400" dirty="0">
                <a:solidFill>
                  <a:srgbClr val="E8E2D6"/>
                </a:solidFill>
                <a:latin typeface="DM Sans" pitchFamily="34" charset="0"/>
                <a:ea typeface="DM Sans" pitchFamily="34" charset="-122"/>
                <a:cs typeface="DM Sans" pitchFamily="34" charset="-120"/>
              </a:rPr>
              <a:t>A BAOR student builds one profile: courses, projects, skills, ambitions. The matching engine scores fit against live roles: a quantitative layer over structured features, and a reasoning layer for the qualitative signal that mathematics cannot capture. The student receives a short list of ranked, explained matches: five roles worth applying to, not a hundred to spray.</a:t>
            </a:r>
            <a:endParaRPr lang="en-US" sz="1400" dirty="0"/>
          </a:p>
        </p:txBody>
      </p:sp>
      <p:sp>
        <p:nvSpPr>
          <p:cNvPr id="7" name="Shape 5"/>
          <p:cNvSpPr/>
          <p:nvPr/>
        </p:nvSpPr>
        <p:spPr>
          <a:xfrm>
            <a:off x="457200" y="3383280"/>
            <a:ext cx="2697480" cy="1234440"/>
          </a:xfrm>
          <a:prstGeom prst="rect">
            <a:avLst/>
          </a:prstGeom>
          <a:solidFill>
            <a:srgbClr val="1A3260">
              <a:alpha val="60000"/>
            </a:srgbClr>
          </a:solidFill>
          <a:ln w="9525">
            <a:solidFill>
              <a:srgbClr val="2A4480"/>
            </a:solidFill>
            <a:prstDash val="solid"/>
          </a:ln>
        </p:spPr>
        <p:txBody>
          <a:bodyPr/>
          <a:lstStyle/>
          <a:p>
            <a:endParaRPr lang="en-US"/>
          </a:p>
        </p:txBody>
      </p:sp>
      <p:sp>
        <p:nvSpPr>
          <p:cNvPr id="8" name="Text 6"/>
          <p:cNvSpPr/>
          <p:nvPr/>
        </p:nvSpPr>
        <p:spPr>
          <a:xfrm>
            <a:off x="640080" y="3520440"/>
            <a:ext cx="2331720" cy="320040"/>
          </a:xfrm>
          <a:prstGeom prst="rect">
            <a:avLst/>
          </a:prstGeom>
          <a:noFill/>
          <a:ln/>
        </p:spPr>
        <p:txBody>
          <a:bodyPr wrap="square" lIns="0" tIns="0" rIns="0" bIns="0" rtlCol="0" anchor="ctr"/>
          <a:lstStyle/>
          <a:p>
            <a:pPr marL="0" indent="0">
              <a:buNone/>
            </a:pPr>
            <a:r>
              <a:rPr lang="en-US" sz="1400" dirty="0">
                <a:solidFill>
                  <a:srgbClr val="FFFFFF"/>
                </a:solidFill>
                <a:latin typeface="Playfair Display" pitchFamily="34" charset="0"/>
                <a:ea typeface="Playfair Display" pitchFamily="34" charset="-122"/>
                <a:cs typeface="Playfair Display" pitchFamily="34" charset="-120"/>
              </a:rPr>
              <a:t>Quantitative scoring</a:t>
            </a:r>
            <a:endParaRPr lang="en-US" sz="1400" dirty="0"/>
          </a:p>
        </p:txBody>
      </p:sp>
      <p:sp>
        <p:nvSpPr>
          <p:cNvPr id="9" name="Text 7"/>
          <p:cNvSpPr/>
          <p:nvPr/>
        </p:nvSpPr>
        <p:spPr>
          <a:xfrm>
            <a:off x="640080" y="3858768"/>
            <a:ext cx="2331720" cy="667512"/>
          </a:xfrm>
          <a:prstGeom prst="rect">
            <a:avLst/>
          </a:prstGeom>
          <a:noFill/>
          <a:ln/>
        </p:spPr>
        <p:txBody>
          <a:bodyPr wrap="square" lIns="0" tIns="0" rIns="0" bIns="0" rtlCol="0" anchor="ctr"/>
          <a:lstStyle/>
          <a:p>
            <a:pPr marL="0" indent="0">
              <a:lnSpc>
                <a:spcPct val="130000"/>
              </a:lnSpc>
              <a:buNone/>
            </a:pPr>
            <a:r>
              <a:rPr lang="en-US" sz="1050" dirty="0">
                <a:solidFill>
                  <a:srgbClr val="D7DCEA"/>
                </a:solidFill>
                <a:latin typeface="DM Sans" pitchFamily="34" charset="0"/>
                <a:ea typeface="DM Sans" pitchFamily="34" charset="-122"/>
                <a:cs typeface="DM Sans" pitchFamily="34" charset="-120"/>
              </a:rPr>
              <a:t>Skills, courses, and project signal scored against role requirements. Deterministic and fast.</a:t>
            </a:r>
            <a:endParaRPr lang="en-US" sz="1050" dirty="0"/>
          </a:p>
        </p:txBody>
      </p:sp>
      <p:sp>
        <p:nvSpPr>
          <p:cNvPr id="10" name="Shape 8"/>
          <p:cNvSpPr/>
          <p:nvPr/>
        </p:nvSpPr>
        <p:spPr>
          <a:xfrm>
            <a:off x="3383280" y="3383280"/>
            <a:ext cx="2697480" cy="1234440"/>
          </a:xfrm>
          <a:prstGeom prst="rect">
            <a:avLst/>
          </a:prstGeom>
          <a:solidFill>
            <a:srgbClr val="1A3260">
              <a:alpha val="60000"/>
            </a:srgbClr>
          </a:solidFill>
          <a:ln w="9525">
            <a:solidFill>
              <a:srgbClr val="2A4480"/>
            </a:solidFill>
            <a:prstDash val="solid"/>
          </a:ln>
        </p:spPr>
        <p:txBody>
          <a:bodyPr/>
          <a:lstStyle/>
          <a:p>
            <a:endParaRPr lang="en-US"/>
          </a:p>
        </p:txBody>
      </p:sp>
      <p:sp>
        <p:nvSpPr>
          <p:cNvPr id="11" name="Text 9"/>
          <p:cNvSpPr/>
          <p:nvPr/>
        </p:nvSpPr>
        <p:spPr>
          <a:xfrm>
            <a:off x="3566160" y="3520440"/>
            <a:ext cx="2331720" cy="320040"/>
          </a:xfrm>
          <a:prstGeom prst="rect">
            <a:avLst/>
          </a:prstGeom>
          <a:noFill/>
          <a:ln/>
        </p:spPr>
        <p:txBody>
          <a:bodyPr wrap="square" lIns="0" tIns="0" rIns="0" bIns="0" rtlCol="0" anchor="ctr"/>
          <a:lstStyle/>
          <a:p>
            <a:pPr marL="0" indent="0">
              <a:buNone/>
            </a:pPr>
            <a:r>
              <a:rPr lang="en-US" sz="1400" dirty="0">
                <a:solidFill>
                  <a:srgbClr val="FFFFFF"/>
                </a:solidFill>
                <a:latin typeface="Playfair Display" pitchFamily="34" charset="0"/>
                <a:ea typeface="Playfair Display" pitchFamily="34" charset="-122"/>
                <a:cs typeface="Playfair Display" pitchFamily="34" charset="-120"/>
              </a:rPr>
              <a:t>Reasoning layer</a:t>
            </a:r>
            <a:endParaRPr lang="en-US" sz="1400" dirty="0"/>
          </a:p>
        </p:txBody>
      </p:sp>
      <p:sp>
        <p:nvSpPr>
          <p:cNvPr id="12" name="Text 10"/>
          <p:cNvSpPr/>
          <p:nvPr/>
        </p:nvSpPr>
        <p:spPr>
          <a:xfrm>
            <a:off x="3566160" y="3858768"/>
            <a:ext cx="2331720" cy="667512"/>
          </a:xfrm>
          <a:prstGeom prst="rect">
            <a:avLst/>
          </a:prstGeom>
          <a:noFill/>
          <a:ln/>
        </p:spPr>
        <p:txBody>
          <a:bodyPr wrap="square" lIns="0" tIns="0" rIns="0" bIns="0" rtlCol="0" anchor="ctr"/>
          <a:lstStyle/>
          <a:p>
            <a:pPr marL="0" indent="0">
              <a:lnSpc>
                <a:spcPct val="130000"/>
              </a:lnSpc>
              <a:buNone/>
            </a:pPr>
            <a:r>
              <a:rPr lang="en-US" sz="1050" dirty="0">
                <a:solidFill>
                  <a:srgbClr val="D7DCEA"/>
                </a:solidFill>
                <a:latin typeface="DM Sans" pitchFamily="34" charset="0"/>
                <a:ea typeface="DM Sans" pitchFamily="34" charset="-122"/>
                <a:cs typeface="DM Sans" pitchFamily="34" charset="-120"/>
              </a:rPr>
              <a:t>Reads projects and self-descriptions for the qualitative fit, with a rationale for every score.</a:t>
            </a:r>
            <a:endParaRPr lang="en-US" sz="1050" dirty="0"/>
          </a:p>
        </p:txBody>
      </p:sp>
      <p:sp>
        <p:nvSpPr>
          <p:cNvPr id="13" name="Shape 11"/>
          <p:cNvSpPr/>
          <p:nvPr/>
        </p:nvSpPr>
        <p:spPr>
          <a:xfrm>
            <a:off x="6309360" y="3383280"/>
            <a:ext cx="2697480" cy="1234440"/>
          </a:xfrm>
          <a:prstGeom prst="rect">
            <a:avLst/>
          </a:prstGeom>
          <a:solidFill>
            <a:srgbClr val="1A3260">
              <a:alpha val="60000"/>
            </a:srgbClr>
          </a:solidFill>
          <a:ln w="9525">
            <a:solidFill>
              <a:srgbClr val="2A4480"/>
            </a:solidFill>
            <a:prstDash val="solid"/>
          </a:ln>
        </p:spPr>
        <p:txBody>
          <a:bodyPr/>
          <a:lstStyle/>
          <a:p>
            <a:endParaRPr lang="en-US"/>
          </a:p>
        </p:txBody>
      </p:sp>
      <p:sp>
        <p:nvSpPr>
          <p:cNvPr id="14" name="Text 12"/>
          <p:cNvSpPr/>
          <p:nvPr/>
        </p:nvSpPr>
        <p:spPr>
          <a:xfrm>
            <a:off x="6492240" y="3520440"/>
            <a:ext cx="2331720" cy="320040"/>
          </a:xfrm>
          <a:prstGeom prst="rect">
            <a:avLst/>
          </a:prstGeom>
          <a:noFill/>
          <a:ln/>
        </p:spPr>
        <p:txBody>
          <a:bodyPr wrap="square" lIns="0" tIns="0" rIns="0" bIns="0" rtlCol="0" anchor="ctr"/>
          <a:lstStyle/>
          <a:p>
            <a:pPr marL="0" indent="0">
              <a:buNone/>
            </a:pPr>
            <a:r>
              <a:rPr lang="en-US" sz="1400" dirty="0">
                <a:solidFill>
                  <a:srgbClr val="FFFFFF"/>
                </a:solidFill>
                <a:latin typeface="Playfair Display" pitchFamily="34" charset="0"/>
                <a:ea typeface="Playfair Display" pitchFamily="34" charset="-122"/>
                <a:cs typeface="Playfair Display" pitchFamily="34" charset="-120"/>
              </a:rPr>
              <a:t>Explainable by design</a:t>
            </a:r>
            <a:endParaRPr lang="en-US" sz="1400" dirty="0"/>
          </a:p>
        </p:txBody>
      </p:sp>
      <p:sp>
        <p:nvSpPr>
          <p:cNvPr id="15" name="Text 13"/>
          <p:cNvSpPr/>
          <p:nvPr/>
        </p:nvSpPr>
        <p:spPr>
          <a:xfrm>
            <a:off x="6492240" y="3858768"/>
            <a:ext cx="2331720" cy="667512"/>
          </a:xfrm>
          <a:prstGeom prst="rect">
            <a:avLst/>
          </a:prstGeom>
          <a:noFill/>
          <a:ln/>
        </p:spPr>
        <p:txBody>
          <a:bodyPr wrap="square" lIns="0" tIns="0" rIns="0" bIns="0" rtlCol="0" anchor="ctr"/>
          <a:lstStyle/>
          <a:p>
            <a:pPr marL="0" indent="0">
              <a:lnSpc>
                <a:spcPct val="130000"/>
              </a:lnSpc>
              <a:buNone/>
            </a:pPr>
            <a:r>
              <a:rPr lang="en-US" sz="1050" dirty="0">
                <a:solidFill>
                  <a:srgbClr val="D7DCEA"/>
                </a:solidFill>
                <a:latin typeface="DM Sans" pitchFamily="34" charset="0"/>
                <a:ea typeface="DM Sans" pitchFamily="34" charset="-122"/>
                <a:cs typeface="DM Sans" pitchFamily="34" charset="-120"/>
              </a:rPr>
              <a:t>Per-pair transparency — aligned with the EU AI Act for high-risk recruitment systems.</a:t>
            </a:r>
            <a:endParaRPr lang="en-US" sz="1050" dirty="0"/>
          </a:p>
        </p:txBody>
      </p:sp>
      <p:sp>
        <p:nvSpPr>
          <p:cNvPr id="16" name="Text 14"/>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C5CBD8"/>
                </a:solidFill>
                <a:latin typeface="DM Sans" pitchFamily="34" charset="0"/>
                <a:ea typeface="DM Sans" pitchFamily="34" charset="-122"/>
                <a:cs typeface="DM Sans" pitchFamily="34" charset="-120"/>
              </a:rPr>
              <a:t>7 / 14</a:t>
            </a:r>
            <a:endParaRPr lang="en-US" sz="900" dirty="0"/>
          </a:p>
        </p:txBody>
      </p:sp>
      <p:sp>
        <p:nvSpPr>
          <p:cNvPr id="17" name="Text 15"/>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C5CBD8"/>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07  ·  PILLAR THREE  ·  PORTAL</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700" dirty="0">
                <a:solidFill>
                  <a:srgbClr val="0F1F3D"/>
                </a:solidFill>
                <a:latin typeface="Playfair Display" pitchFamily="34" charset="0"/>
                <a:ea typeface="Playfair Display" pitchFamily="34" charset="-122"/>
                <a:cs typeface="Playfair Display" pitchFamily="34" charset="-120"/>
              </a:rPr>
              <a:t>A career-services portal for BAOR.</a:t>
            </a:r>
            <a:endParaRPr lang="en-US" sz="2700" dirty="0"/>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i="1" dirty="0">
                <a:solidFill>
                  <a:srgbClr val="555B6E"/>
                </a:solidFill>
                <a:latin typeface="DM Sans" pitchFamily="34" charset="0"/>
                <a:ea typeface="DM Sans" pitchFamily="34" charset="-122"/>
                <a:cs typeface="DM Sans" pitchFamily="34" charset="-120"/>
              </a:rPr>
              <a:t>The Career Officer dashboard turns cohort data into decisions. Four tools.</a:t>
            </a:r>
            <a:endParaRPr lang="en-US" sz="1300" dirty="0"/>
          </a:p>
        </p:txBody>
      </p:sp>
      <p:sp>
        <p:nvSpPr>
          <p:cNvPr id="6" name="Shape 4"/>
          <p:cNvSpPr/>
          <p:nvPr/>
        </p:nvSpPr>
        <p:spPr>
          <a:xfrm>
            <a:off x="457200" y="1881655"/>
            <a:ext cx="3977640" cy="1371600"/>
          </a:xfrm>
          <a:prstGeom prst="rect">
            <a:avLst/>
          </a:prstGeom>
          <a:solidFill>
            <a:srgbClr val="FFFFFF"/>
          </a:solidFill>
          <a:ln w="9525">
            <a:solidFill>
              <a:srgbClr val="CFCCC4"/>
            </a:solidFill>
            <a:prstDash val="solid"/>
          </a:ln>
        </p:spPr>
        <p:txBody>
          <a:bodyPr/>
          <a:lstStyle/>
          <a:p>
            <a:endParaRPr lang="en-US"/>
          </a:p>
        </p:txBody>
      </p:sp>
      <p:sp>
        <p:nvSpPr>
          <p:cNvPr id="7" name="Shape 5"/>
          <p:cNvSpPr/>
          <p:nvPr/>
        </p:nvSpPr>
        <p:spPr>
          <a:xfrm>
            <a:off x="457200" y="1881655"/>
            <a:ext cx="45720" cy="1371600"/>
          </a:xfrm>
          <a:prstGeom prst="rect">
            <a:avLst/>
          </a:prstGeom>
          <a:solidFill>
            <a:srgbClr val="C04E1D"/>
          </a:solidFill>
          <a:ln w="12700">
            <a:solidFill>
              <a:srgbClr val="C04E1D"/>
            </a:solidFill>
            <a:prstDash val="solid"/>
          </a:ln>
        </p:spPr>
        <p:txBody>
          <a:bodyPr/>
          <a:lstStyle/>
          <a:p>
            <a:endParaRPr lang="en-US"/>
          </a:p>
        </p:txBody>
      </p:sp>
      <p:sp>
        <p:nvSpPr>
          <p:cNvPr id="8" name="Text 6"/>
          <p:cNvSpPr/>
          <p:nvPr/>
        </p:nvSpPr>
        <p:spPr>
          <a:xfrm>
            <a:off x="685800" y="2027959"/>
            <a:ext cx="3566160" cy="365760"/>
          </a:xfrm>
          <a:prstGeom prst="rect">
            <a:avLst/>
          </a:prstGeom>
          <a:noFill/>
          <a:ln/>
        </p:spPr>
        <p:txBody>
          <a:bodyPr wrap="square" lIns="0" tIns="0" rIns="0" bIns="0" rtlCol="0" anchor="ctr"/>
          <a:lstStyle/>
          <a:p>
            <a:pPr marL="0" indent="0">
              <a:buNone/>
            </a:pPr>
            <a:r>
              <a:rPr lang="en-US" sz="1600" dirty="0">
                <a:solidFill>
                  <a:srgbClr val="0F1F3D"/>
                </a:solidFill>
                <a:latin typeface="Playfair Display" pitchFamily="34" charset="0"/>
                <a:ea typeface="Playfair Display" pitchFamily="34" charset="-122"/>
                <a:cs typeface="Playfair Display" pitchFamily="34" charset="-120"/>
              </a:rPr>
              <a:t>Match Analyzer</a:t>
            </a:r>
            <a:endParaRPr lang="en-US" sz="1600" dirty="0"/>
          </a:p>
        </p:txBody>
      </p:sp>
      <p:sp>
        <p:nvSpPr>
          <p:cNvPr id="9" name="Text 7"/>
          <p:cNvSpPr/>
          <p:nvPr/>
        </p:nvSpPr>
        <p:spPr>
          <a:xfrm>
            <a:off x="685800" y="2412007"/>
            <a:ext cx="3566160" cy="749808"/>
          </a:xfrm>
          <a:prstGeom prst="rect">
            <a:avLst/>
          </a:prstGeom>
          <a:noFill/>
          <a:ln/>
        </p:spPr>
        <p:txBody>
          <a:bodyPr wrap="square" lIns="0" tIns="0" rIns="0" bIns="0" rtlCol="0" anchor="ctr"/>
          <a:lstStyle/>
          <a:p>
            <a:pPr marL="0" indent="0">
              <a:lnSpc>
                <a:spcPct val="135000"/>
              </a:lnSpc>
              <a:buNone/>
            </a:pPr>
            <a:r>
              <a:rPr lang="en-US" sz="1100" dirty="0">
                <a:solidFill>
                  <a:srgbClr val="1A1A2E"/>
                </a:solidFill>
                <a:latin typeface="DM Sans" pitchFamily="34" charset="0"/>
                <a:ea typeface="DM Sans" pitchFamily="34" charset="-122"/>
                <a:cs typeface="DM Sans" pitchFamily="34" charset="-120"/>
              </a:rPr>
              <a:t>Pick a student and a target role. See the match score, where the gaps are, and what to raise in the 1-on-1.</a:t>
            </a:r>
            <a:endParaRPr lang="en-US" sz="1100" dirty="0"/>
          </a:p>
        </p:txBody>
      </p:sp>
      <p:sp>
        <p:nvSpPr>
          <p:cNvPr id="10" name="Shape 8"/>
          <p:cNvSpPr/>
          <p:nvPr/>
        </p:nvSpPr>
        <p:spPr>
          <a:xfrm>
            <a:off x="4709160" y="1881655"/>
            <a:ext cx="3977640" cy="1371600"/>
          </a:xfrm>
          <a:prstGeom prst="rect">
            <a:avLst/>
          </a:prstGeom>
          <a:solidFill>
            <a:srgbClr val="FFFFFF"/>
          </a:solidFill>
          <a:ln w="9525">
            <a:solidFill>
              <a:srgbClr val="CFCCC4"/>
            </a:solidFill>
            <a:prstDash val="solid"/>
          </a:ln>
        </p:spPr>
        <p:txBody>
          <a:bodyPr/>
          <a:lstStyle/>
          <a:p>
            <a:endParaRPr lang="en-US"/>
          </a:p>
        </p:txBody>
      </p:sp>
      <p:sp>
        <p:nvSpPr>
          <p:cNvPr id="11" name="Shape 9"/>
          <p:cNvSpPr/>
          <p:nvPr/>
        </p:nvSpPr>
        <p:spPr>
          <a:xfrm>
            <a:off x="4709160" y="1881655"/>
            <a:ext cx="45720" cy="1371600"/>
          </a:xfrm>
          <a:prstGeom prst="rect">
            <a:avLst/>
          </a:prstGeom>
          <a:solidFill>
            <a:srgbClr val="C04E1D"/>
          </a:solidFill>
          <a:ln w="12700">
            <a:solidFill>
              <a:srgbClr val="C04E1D"/>
            </a:solidFill>
            <a:prstDash val="solid"/>
          </a:ln>
        </p:spPr>
        <p:txBody>
          <a:bodyPr/>
          <a:lstStyle/>
          <a:p>
            <a:endParaRPr lang="en-US"/>
          </a:p>
        </p:txBody>
      </p:sp>
      <p:sp>
        <p:nvSpPr>
          <p:cNvPr id="12" name="Text 10"/>
          <p:cNvSpPr/>
          <p:nvPr/>
        </p:nvSpPr>
        <p:spPr>
          <a:xfrm>
            <a:off x="4937760" y="2027959"/>
            <a:ext cx="3566160" cy="365760"/>
          </a:xfrm>
          <a:prstGeom prst="rect">
            <a:avLst/>
          </a:prstGeom>
          <a:noFill/>
          <a:ln/>
        </p:spPr>
        <p:txBody>
          <a:bodyPr wrap="square" lIns="0" tIns="0" rIns="0" bIns="0" rtlCol="0" anchor="ctr"/>
          <a:lstStyle/>
          <a:p>
            <a:pPr marL="0" indent="0">
              <a:buNone/>
            </a:pPr>
            <a:r>
              <a:rPr lang="en-US" sz="1600" dirty="0">
                <a:solidFill>
                  <a:srgbClr val="0F1F3D"/>
                </a:solidFill>
                <a:latin typeface="Playfair Display" pitchFamily="34" charset="0"/>
                <a:ea typeface="Playfair Display" pitchFamily="34" charset="-122"/>
                <a:cs typeface="Playfair Display" pitchFamily="34" charset="-120"/>
              </a:rPr>
              <a:t>Market Pulse</a:t>
            </a:r>
            <a:endParaRPr lang="en-US" sz="1600" dirty="0"/>
          </a:p>
        </p:txBody>
      </p:sp>
      <p:sp>
        <p:nvSpPr>
          <p:cNvPr id="13" name="Text 11"/>
          <p:cNvSpPr/>
          <p:nvPr/>
        </p:nvSpPr>
        <p:spPr>
          <a:xfrm>
            <a:off x="4937760" y="2412007"/>
            <a:ext cx="3566160" cy="749808"/>
          </a:xfrm>
          <a:prstGeom prst="rect">
            <a:avLst/>
          </a:prstGeom>
          <a:noFill/>
          <a:ln/>
        </p:spPr>
        <p:txBody>
          <a:bodyPr wrap="square" lIns="0" tIns="0" rIns="0" bIns="0" rtlCol="0" anchor="ctr"/>
          <a:lstStyle/>
          <a:p>
            <a:pPr marL="0" indent="0">
              <a:lnSpc>
                <a:spcPct val="135000"/>
              </a:lnSpc>
              <a:buNone/>
            </a:pPr>
            <a:r>
              <a:rPr lang="en-US" sz="1100" dirty="0">
                <a:solidFill>
                  <a:srgbClr val="1A1A2E"/>
                </a:solidFill>
                <a:latin typeface="DM Sans" pitchFamily="34" charset="0"/>
                <a:ea typeface="DM Sans" pitchFamily="34" charset="-122"/>
                <a:cs typeface="DM Sans" pitchFamily="34" charset="-120"/>
              </a:rPr>
              <a:t>What employers are searching for at Tilburg right now: trending skills, sector demand, hot roles. Refreshed weekly.</a:t>
            </a:r>
            <a:endParaRPr lang="en-US" sz="1100" dirty="0"/>
          </a:p>
        </p:txBody>
      </p:sp>
      <p:sp>
        <p:nvSpPr>
          <p:cNvPr id="14" name="Shape 12"/>
          <p:cNvSpPr/>
          <p:nvPr/>
        </p:nvSpPr>
        <p:spPr>
          <a:xfrm>
            <a:off x="457200" y="3344695"/>
            <a:ext cx="3977640" cy="1371600"/>
          </a:xfrm>
          <a:prstGeom prst="rect">
            <a:avLst/>
          </a:prstGeom>
          <a:solidFill>
            <a:srgbClr val="FFFFFF"/>
          </a:solidFill>
          <a:ln w="9525">
            <a:solidFill>
              <a:srgbClr val="CFCCC4"/>
            </a:solidFill>
            <a:prstDash val="solid"/>
          </a:ln>
        </p:spPr>
        <p:txBody>
          <a:bodyPr/>
          <a:lstStyle/>
          <a:p>
            <a:endParaRPr lang="en-US"/>
          </a:p>
        </p:txBody>
      </p:sp>
      <p:sp>
        <p:nvSpPr>
          <p:cNvPr id="15" name="Shape 13"/>
          <p:cNvSpPr/>
          <p:nvPr/>
        </p:nvSpPr>
        <p:spPr>
          <a:xfrm>
            <a:off x="457200" y="3344695"/>
            <a:ext cx="45720" cy="1371600"/>
          </a:xfrm>
          <a:prstGeom prst="rect">
            <a:avLst/>
          </a:prstGeom>
          <a:solidFill>
            <a:srgbClr val="C04E1D"/>
          </a:solidFill>
          <a:ln w="12700">
            <a:solidFill>
              <a:srgbClr val="C04E1D"/>
            </a:solidFill>
            <a:prstDash val="solid"/>
          </a:ln>
        </p:spPr>
        <p:txBody>
          <a:bodyPr/>
          <a:lstStyle/>
          <a:p>
            <a:endParaRPr lang="en-US"/>
          </a:p>
        </p:txBody>
      </p:sp>
      <p:sp>
        <p:nvSpPr>
          <p:cNvPr id="16" name="Text 14"/>
          <p:cNvSpPr/>
          <p:nvPr/>
        </p:nvSpPr>
        <p:spPr>
          <a:xfrm>
            <a:off x="685800" y="3490999"/>
            <a:ext cx="3566160" cy="365760"/>
          </a:xfrm>
          <a:prstGeom prst="rect">
            <a:avLst/>
          </a:prstGeom>
          <a:noFill/>
          <a:ln/>
        </p:spPr>
        <p:txBody>
          <a:bodyPr wrap="square" lIns="0" tIns="0" rIns="0" bIns="0" rtlCol="0" anchor="ctr"/>
          <a:lstStyle/>
          <a:p>
            <a:pPr marL="0" indent="0">
              <a:buNone/>
            </a:pPr>
            <a:r>
              <a:rPr lang="en-US" sz="1600" dirty="0">
                <a:solidFill>
                  <a:srgbClr val="0F1F3D"/>
                </a:solidFill>
                <a:latin typeface="Playfair Display" pitchFamily="34" charset="0"/>
                <a:ea typeface="Playfair Display" pitchFamily="34" charset="-122"/>
                <a:cs typeface="Playfair Display" pitchFamily="34" charset="-120"/>
              </a:rPr>
              <a:t>Career Path Explorer</a:t>
            </a:r>
            <a:endParaRPr lang="en-US" sz="1600" dirty="0"/>
          </a:p>
        </p:txBody>
      </p:sp>
      <p:sp>
        <p:nvSpPr>
          <p:cNvPr id="17" name="Text 15"/>
          <p:cNvSpPr/>
          <p:nvPr/>
        </p:nvSpPr>
        <p:spPr>
          <a:xfrm>
            <a:off x="685800" y="3875047"/>
            <a:ext cx="3566160" cy="749808"/>
          </a:xfrm>
          <a:prstGeom prst="rect">
            <a:avLst/>
          </a:prstGeom>
          <a:noFill/>
          <a:ln/>
        </p:spPr>
        <p:txBody>
          <a:bodyPr wrap="square" lIns="0" tIns="0" rIns="0" bIns="0" rtlCol="0" anchor="ctr"/>
          <a:lstStyle/>
          <a:p>
            <a:pPr marL="0" indent="0">
              <a:lnSpc>
                <a:spcPct val="135000"/>
              </a:lnSpc>
              <a:buNone/>
            </a:pPr>
            <a:r>
              <a:rPr lang="en-US" sz="1100" dirty="0">
                <a:solidFill>
                  <a:srgbClr val="1A1A2E"/>
                </a:solidFill>
                <a:latin typeface="DM Sans" pitchFamily="34" charset="0"/>
                <a:ea typeface="DM Sans" pitchFamily="34" charset="-122"/>
                <a:cs typeface="DM Sans" pitchFamily="34" charset="-120"/>
              </a:rPr>
              <a:t>Type a role. See the skills employers ask for, the backgrounds of students who placed, and what lifts an application.</a:t>
            </a:r>
            <a:endParaRPr lang="en-US" sz="1100" dirty="0"/>
          </a:p>
        </p:txBody>
      </p:sp>
      <p:sp>
        <p:nvSpPr>
          <p:cNvPr id="18" name="Shape 16"/>
          <p:cNvSpPr/>
          <p:nvPr/>
        </p:nvSpPr>
        <p:spPr>
          <a:xfrm>
            <a:off x="4709160" y="3344695"/>
            <a:ext cx="3977640" cy="1371600"/>
          </a:xfrm>
          <a:prstGeom prst="rect">
            <a:avLst/>
          </a:prstGeom>
          <a:solidFill>
            <a:srgbClr val="FFFFFF"/>
          </a:solidFill>
          <a:ln w="9525">
            <a:solidFill>
              <a:srgbClr val="CFCCC4"/>
            </a:solidFill>
            <a:prstDash val="solid"/>
          </a:ln>
        </p:spPr>
        <p:txBody>
          <a:bodyPr/>
          <a:lstStyle/>
          <a:p>
            <a:endParaRPr lang="en-US"/>
          </a:p>
        </p:txBody>
      </p:sp>
      <p:sp>
        <p:nvSpPr>
          <p:cNvPr id="19" name="Shape 17"/>
          <p:cNvSpPr/>
          <p:nvPr/>
        </p:nvSpPr>
        <p:spPr>
          <a:xfrm>
            <a:off x="4709160" y="3344695"/>
            <a:ext cx="45720" cy="1371600"/>
          </a:xfrm>
          <a:prstGeom prst="rect">
            <a:avLst/>
          </a:prstGeom>
          <a:solidFill>
            <a:srgbClr val="C04E1D"/>
          </a:solidFill>
          <a:ln w="12700">
            <a:solidFill>
              <a:srgbClr val="C04E1D"/>
            </a:solidFill>
            <a:prstDash val="solid"/>
          </a:ln>
        </p:spPr>
        <p:txBody>
          <a:bodyPr/>
          <a:lstStyle/>
          <a:p>
            <a:endParaRPr lang="en-US"/>
          </a:p>
        </p:txBody>
      </p:sp>
      <p:sp>
        <p:nvSpPr>
          <p:cNvPr id="20" name="Text 18"/>
          <p:cNvSpPr/>
          <p:nvPr/>
        </p:nvSpPr>
        <p:spPr>
          <a:xfrm>
            <a:off x="4937760" y="3490999"/>
            <a:ext cx="3566160" cy="365760"/>
          </a:xfrm>
          <a:prstGeom prst="rect">
            <a:avLst/>
          </a:prstGeom>
          <a:noFill/>
          <a:ln/>
        </p:spPr>
        <p:txBody>
          <a:bodyPr wrap="square" lIns="0" tIns="0" rIns="0" bIns="0" rtlCol="0" anchor="ctr"/>
          <a:lstStyle/>
          <a:p>
            <a:pPr marL="0" indent="0">
              <a:buNone/>
            </a:pPr>
            <a:r>
              <a:rPr lang="en-US" sz="1600" dirty="0">
                <a:solidFill>
                  <a:srgbClr val="0F1F3D"/>
                </a:solidFill>
                <a:latin typeface="Playfair Display" pitchFamily="34" charset="0"/>
                <a:ea typeface="Playfair Display" pitchFamily="34" charset="-122"/>
                <a:cs typeface="Playfair Display" pitchFamily="34" charset="-120"/>
              </a:rPr>
              <a:t>Engagement &amp; At-risk</a:t>
            </a:r>
            <a:endParaRPr lang="en-US" sz="1600" dirty="0"/>
          </a:p>
        </p:txBody>
      </p:sp>
      <p:sp>
        <p:nvSpPr>
          <p:cNvPr id="21" name="Text 19"/>
          <p:cNvSpPr/>
          <p:nvPr/>
        </p:nvSpPr>
        <p:spPr>
          <a:xfrm>
            <a:off x="4937760" y="3875047"/>
            <a:ext cx="3566160" cy="749808"/>
          </a:xfrm>
          <a:prstGeom prst="rect">
            <a:avLst/>
          </a:prstGeom>
          <a:noFill/>
          <a:ln/>
        </p:spPr>
        <p:txBody>
          <a:bodyPr wrap="square" lIns="0" tIns="0" rIns="0" bIns="0" rtlCol="0" anchor="ctr"/>
          <a:lstStyle/>
          <a:p>
            <a:pPr marL="0" indent="0">
              <a:lnSpc>
                <a:spcPct val="135000"/>
              </a:lnSpc>
              <a:buNone/>
            </a:pPr>
            <a:r>
              <a:rPr lang="en-US" sz="1100" dirty="0">
                <a:solidFill>
                  <a:srgbClr val="1A1A2E"/>
                </a:solidFill>
                <a:latin typeface="DM Sans" pitchFamily="34" charset="0"/>
                <a:ea typeface="DM Sans" pitchFamily="34" charset="-122"/>
                <a:cs typeface="DM Sans" pitchFamily="34" charset="-120"/>
              </a:rPr>
              <a:t>Who's slipping, who's progressing, and where the team should focus outreach this month.</a:t>
            </a:r>
            <a:endParaRPr lang="en-US" sz="1100" dirty="0"/>
          </a:p>
        </p:txBody>
      </p:sp>
      <p:sp>
        <p:nvSpPr>
          <p:cNvPr id="22" name="Text 20"/>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8 / 14</a:t>
            </a:r>
            <a:endParaRPr lang="en-US" sz="900" dirty="0"/>
          </a:p>
        </p:txBody>
      </p:sp>
      <p:sp>
        <p:nvSpPr>
          <p:cNvPr id="23" name="Text 21"/>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E8622A"/>
          </a:solidFill>
          <a:ln w="12700">
            <a:solidFill>
              <a:srgbClr val="E8622A"/>
            </a:solidFill>
            <a:prstDash val="solid"/>
          </a:ln>
        </p:spPr>
        <p:txBody>
          <a:bodyPr/>
          <a:lstStyle/>
          <a:p>
            <a:endParaRPr lang="en-US"/>
          </a:p>
        </p:txBody>
      </p:sp>
      <p:sp>
        <p:nvSpPr>
          <p:cNvPr id="3" name="Text 1"/>
          <p:cNvSpPr/>
          <p:nvPr/>
        </p:nvSpPr>
        <p:spPr>
          <a:xfrm>
            <a:off x="658368" y="457200"/>
            <a:ext cx="45720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08  ·  LIVE DEMO</a:t>
            </a:r>
            <a:endParaRPr lang="en-US" sz="900" dirty="0"/>
          </a:p>
        </p:txBody>
      </p:sp>
      <p:sp>
        <p:nvSpPr>
          <p:cNvPr id="4" name="Text 2"/>
          <p:cNvSpPr/>
          <p:nvPr/>
        </p:nvSpPr>
        <p:spPr>
          <a:xfrm>
            <a:off x="457200" y="664752"/>
            <a:ext cx="8229600" cy="640080"/>
          </a:xfrm>
          <a:prstGeom prst="rect">
            <a:avLst/>
          </a:prstGeom>
          <a:noFill/>
          <a:ln/>
        </p:spPr>
        <p:txBody>
          <a:bodyPr wrap="square" lIns="0" tIns="0" rIns="0" bIns="0" rtlCol="0" anchor="ctr"/>
          <a:lstStyle/>
          <a:p>
            <a:pPr marL="0" indent="0">
              <a:buNone/>
            </a:pPr>
            <a:r>
              <a:rPr lang="en-US" sz="3000" dirty="0">
                <a:solidFill>
                  <a:srgbClr val="0F1F3D"/>
                </a:solidFill>
                <a:latin typeface="Playfair Display" pitchFamily="34" charset="0"/>
                <a:ea typeface="Playfair Display" pitchFamily="34" charset="-122"/>
                <a:cs typeface="Playfair Display" pitchFamily="34" charset="-120"/>
              </a:rPr>
              <a:t>Built, not (only) pitched.</a:t>
            </a:r>
            <a:endParaRPr lang="en-US" sz="3000" dirty="0"/>
          </a:p>
        </p:txBody>
      </p:sp>
      <p:sp>
        <p:nvSpPr>
          <p:cNvPr id="5" name="Text 3"/>
          <p:cNvSpPr/>
          <p:nvPr/>
        </p:nvSpPr>
        <p:spPr>
          <a:xfrm>
            <a:off x="5078538" y="801912"/>
            <a:ext cx="3608262" cy="365760"/>
          </a:xfrm>
          <a:prstGeom prst="rect">
            <a:avLst/>
          </a:prstGeom>
          <a:noFill/>
          <a:ln/>
        </p:spPr>
        <p:txBody>
          <a:bodyPr wrap="square" lIns="0" tIns="0" rIns="0" bIns="0" rtlCol="0" anchor="ctr"/>
          <a:lstStyle/>
          <a:p>
            <a:pPr marL="0" indent="0">
              <a:buNone/>
            </a:pPr>
            <a:r>
              <a:rPr lang="en-US" sz="1000" i="1" dirty="0">
                <a:solidFill>
                  <a:srgbClr val="555B6E"/>
                </a:solidFill>
                <a:latin typeface="DM Sans" pitchFamily="34" charset="0"/>
                <a:ea typeface="DM Sans" pitchFamily="34" charset="-122"/>
                <a:cs typeface="DM Sans" pitchFamily="34" charset="-120"/>
              </a:rPr>
              <a:t>demo version</a:t>
            </a:r>
            <a:endParaRPr lang="en-US" sz="1000" dirty="0"/>
          </a:p>
        </p:txBody>
      </p:sp>
      <p:sp>
        <p:nvSpPr>
          <p:cNvPr id="11" name="Text 7"/>
          <p:cNvSpPr/>
          <p:nvPr/>
        </p:nvSpPr>
        <p:spPr>
          <a:xfrm>
            <a:off x="457200" y="4777740"/>
            <a:ext cx="3657600" cy="228600"/>
          </a:xfrm>
          <a:prstGeom prst="rect">
            <a:avLst/>
          </a:prstGeom>
          <a:noFill/>
          <a:ln/>
        </p:spPr>
        <p:txBody>
          <a:bodyPr wrap="square" lIns="0" tIns="0" rIns="0" bIns="0" rtlCol="0" anchor="ctr"/>
          <a:lstStyle/>
          <a:p>
            <a:pPr marL="0" indent="0" algn="l">
              <a:buNone/>
            </a:pPr>
            <a:r>
              <a:rPr lang="en-US" sz="800" kern="0" spc="300" dirty="0">
                <a:solidFill>
                  <a:srgbClr val="8A8F9E"/>
                </a:solidFill>
                <a:latin typeface="DM Sans" pitchFamily="34" charset="0"/>
                <a:ea typeface="DM Sans" pitchFamily="34" charset="-122"/>
                <a:cs typeface="DM Sans" pitchFamily="34" charset="-120"/>
              </a:rPr>
              <a:t>ROOKIES  ·  PITCH  ·  2026</a:t>
            </a:r>
            <a:endParaRPr lang="en-US" sz="800" dirty="0"/>
          </a:p>
        </p:txBody>
      </p:sp>
      <p:pic>
        <p:nvPicPr>
          <p:cNvPr id="12" name="Picture 11">
            <a:extLst>
              <a:ext uri="{FF2B5EF4-FFF2-40B4-BE49-F238E27FC236}">
                <a16:creationId xmlns:a16="http://schemas.microsoft.com/office/drawing/2014/main" id="{E550C94F-E0A4-4828-DD0D-2B573E1BF687}"/>
              </a:ext>
            </a:extLst>
          </p:cNvPr>
          <p:cNvPicPr>
            <a:picLocks noChangeAspect="1"/>
          </p:cNvPicPr>
          <p:nvPr/>
        </p:nvPicPr>
        <p:blipFill>
          <a:blip r:embed="rId4"/>
          <a:stretch>
            <a:fillRect/>
          </a:stretch>
        </p:blipFill>
        <p:spPr>
          <a:xfrm>
            <a:off x="1544622" y="1265463"/>
            <a:ext cx="6054756" cy="3337560"/>
          </a:xfrm>
          <a:prstGeom prst="rect">
            <a:avLst/>
          </a:prstGeom>
        </p:spPr>
      </p:pic>
      <p:sp>
        <p:nvSpPr>
          <p:cNvPr id="15" name="Text 20">
            <a:extLst>
              <a:ext uri="{FF2B5EF4-FFF2-40B4-BE49-F238E27FC236}">
                <a16:creationId xmlns:a16="http://schemas.microsoft.com/office/drawing/2014/main" id="{1B193309-E44B-788C-DBAC-B693EBB1DCE6}"/>
              </a:ext>
            </a:extLst>
          </p:cNvPr>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9 / 14</a:t>
            </a:r>
            <a:endParaRPr lang="en-US" sz="900" dirty="0"/>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EF"/>
        </a:solidFill>
        <a:effectLst/>
      </p:bgPr>
    </p:bg>
    <p:spTree>
      <p:nvGrpSpPr>
        <p:cNvPr id="1" name="">
          <a:extLst>
            <a:ext uri="{FF2B5EF4-FFF2-40B4-BE49-F238E27FC236}">
              <a16:creationId xmlns:a16="http://schemas.microsoft.com/office/drawing/2014/main" id="{5A98F3BC-41B5-267D-A6E0-5D11EEDC122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BE19C2C-CC8D-504C-C045-35738DC2325C}"/>
              </a:ext>
            </a:extLst>
          </p:cNvPr>
          <p:cNvSpPr/>
          <p:nvPr/>
        </p:nvSpPr>
        <p:spPr>
          <a:xfrm>
            <a:off x="457200" y="530352"/>
            <a:ext cx="73152" cy="73152"/>
          </a:xfrm>
          <a:prstGeom prst="ellipse">
            <a:avLst/>
          </a:prstGeom>
          <a:solidFill>
            <a:srgbClr val="E8622A"/>
          </a:solidFill>
          <a:ln w="12700">
            <a:solidFill>
              <a:srgbClr val="E8622A"/>
            </a:solidFill>
            <a:prstDash val="solid"/>
          </a:ln>
        </p:spPr>
        <p:txBody>
          <a:bodyPr/>
          <a:lstStyle/>
          <a:p>
            <a:endParaRPr lang="en-US"/>
          </a:p>
        </p:txBody>
      </p:sp>
      <p:sp>
        <p:nvSpPr>
          <p:cNvPr id="3" name="Text 1">
            <a:extLst>
              <a:ext uri="{FF2B5EF4-FFF2-40B4-BE49-F238E27FC236}">
                <a16:creationId xmlns:a16="http://schemas.microsoft.com/office/drawing/2014/main" id="{8FCF8D5D-8BE1-5807-078B-193287459F9F}"/>
              </a:ext>
            </a:extLst>
          </p:cNvPr>
          <p:cNvSpPr/>
          <p:nvPr/>
        </p:nvSpPr>
        <p:spPr>
          <a:xfrm>
            <a:off x="658368" y="457200"/>
            <a:ext cx="45720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09  ·  LIVE DEMO</a:t>
            </a:r>
            <a:endParaRPr lang="en-US" sz="900" dirty="0"/>
          </a:p>
        </p:txBody>
      </p:sp>
      <p:sp>
        <p:nvSpPr>
          <p:cNvPr id="4" name="Text 2">
            <a:extLst>
              <a:ext uri="{FF2B5EF4-FFF2-40B4-BE49-F238E27FC236}">
                <a16:creationId xmlns:a16="http://schemas.microsoft.com/office/drawing/2014/main" id="{222BDE00-E2D6-9E12-BFF6-2F2224495AF1}"/>
              </a:ext>
            </a:extLst>
          </p:cNvPr>
          <p:cNvSpPr/>
          <p:nvPr/>
        </p:nvSpPr>
        <p:spPr>
          <a:xfrm>
            <a:off x="457200" y="664752"/>
            <a:ext cx="8229600" cy="640080"/>
          </a:xfrm>
          <a:prstGeom prst="rect">
            <a:avLst/>
          </a:prstGeom>
          <a:noFill/>
          <a:ln/>
        </p:spPr>
        <p:txBody>
          <a:bodyPr wrap="square" lIns="0" tIns="0" rIns="0" bIns="0" rtlCol="0" anchor="ctr"/>
          <a:lstStyle/>
          <a:p>
            <a:pPr marL="0" indent="0">
              <a:buNone/>
            </a:pPr>
            <a:r>
              <a:rPr lang="en-US" sz="3000" dirty="0">
                <a:solidFill>
                  <a:srgbClr val="0F1F3D"/>
                </a:solidFill>
                <a:latin typeface="Playfair Display" pitchFamily="34" charset="0"/>
                <a:ea typeface="Playfair Display" pitchFamily="34" charset="-122"/>
                <a:cs typeface="Playfair Display" pitchFamily="34" charset="-120"/>
              </a:rPr>
              <a:t>Built, not (only) pitched.</a:t>
            </a:r>
            <a:endParaRPr lang="en-US" sz="3000" dirty="0"/>
          </a:p>
        </p:txBody>
      </p:sp>
      <p:sp>
        <p:nvSpPr>
          <p:cNvPr id="11" name="Text 7">
            <a:extLst>
              <a:ext uri="{FF2B5EF4-FFF2-40B4-BE49-F238E27FC236}">
                <a16:creationId xmlns:a16="http://schemas.microsoft.com/office/drawing/2014/main" id="{659AACAC-C2A7-9584-9431-9D711F05B4BD}"/>
              </a:ext>
            </a:extLst>
          </p:cNvPr>
          <p:cNvSpPr/>
          <p:nvPr/>
        </p:nvSpPr>
        <p:spPr>
          <a:xfrm>
            <a:off x="457200" y="4777740"/>
            <a:ext cx="3657600" cy="228600"/>
          </a:xfrm>
          <a:prstGeom prst="rect">
            <a:avLst/>
          </a:prstGeom>
          <a:noFill/>
          <a:ln/>
        </p:spPr>
        <p:txBody>
          <a:bodyPr wrap="square" lIns="0" tIns="0" rIns="0" bIns="0" rtlCol="0" anchor="ctr"/>
          <a:lstStyle/>
          <a:p>
            <a:pPr marL="0" indent="0" algn="l">
              <a:buNone/>
            </a:pPr>
            <a:r>
              <a:rPr lang="en-US" sz="800" kern="0" spc="300" dirty="0">
                <a:solidFill>
                  <a:srgbClr val="8A8F9E"/>
                </a:solidFill>
                <a:latin typeface="DM Sans" pitchFamily="34" charset="0"/>
                <a:ea typeface="DM Sans" pitchFamily="34" charset="-122"/>
                <a:cs typeface="DM Sans" pitchFamily="34" charset="-120"/>
              </a:rPr>
              <a:t>ROOKIES  ·  PITCH  ·  2026</a:t>
            </a:r>
            <a:endParaRPr lang="en-US" sz="800" dirty="0"/>
          </a:p>
        </p:txBody>
      </p:sp>
      <p:pic>
        <p:nvPicPr>
          <p:cNvPr id="14" name="Picture 13">
            <a:extLst>
              <a:ext uri="{FF2B5EF4-FFF2-40B4-BE49-F238E27FC236}">
                <a16:creationId xmlns:a16="http://schemas.microsoft.com/office/drawing/2014/main" id="{9862DDF5-C3A7-91E6-8713-F649B3E3B3F2}"/>
              </a:ext>
            </a:extLst>
          </p:cNvPr>
          <p:cNvPicPr>
            <a:picLocks noChangeAspect="1"/>
          </p:cNvPicPr>
          <p:nvPr/>
        </p:nvPicPr>
        <p:blipFill>
          <a:blip r:embed="rId4"/>
          <a:stretch>
            <a:fillRect/>
          </a:stretch>
        </p:blipFill>
        <p:spPr>
          <a:xfrm>
            <a:off x="1289370" y="1304832"/>
            <a:ext cx="6394221" cy="3434584"/>
          </a:xfrm>
          <a:prstGeom prst="rect">
            <a:avLst/>
          </a:prstGeom>
        </p:spPr>
      </p:pic>
      <p:sp>
        <p:nvSpPr>
          <p:cNvPr id="6" name="Text 20">
            <a:extLst>
              <a:ext uri="{FF2B5EF4-FFF2-40B4-BE49-F238E27FC236}">
                <a16:creationId xmlns:a16="http://schemas.microsoft.com/office/drawing/2014/main" id="{F62F148B-FA09-7FA3-5D3D-0A3DF730DEF0}"/>
              </a:ext>
            </a:extLst>
          </p:cNvPr>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10 / 14</a:t>
            </a:r>
            <a:endParaRPr lang="en-US" sz="900" dirty="0"/>
          </a:p>
        </p:txBody>
      </p:sp>
      <p:sp>
        <p:nvSpPr>
          <p:cNvPr id="7" name="Text 3">
            <a:extLst>
              <a:ext uri="{FF2B5EF4-FFF2-40B4-BE49-F238E27FC236}">
                <a16:creationId xmlns:a16="http://schemas.microsoft.com/office/drawing/2014/main" id="{F7FFCD38-30C8-EF46-B313-9043C07F55C3}"/>
              </a:ext>
            </a:extLst>
          </p:cNvPr>
          <p:cNvSpPr/>
          <p:nvPr/>
        </p:nvSpPr>
        <p:spPr>
          <a:xfrm>
            <a:off x="5078538" y="801912"/>
            <a:ext cx="3608262" cy="365760"/>
          </a:xfrm>
          <a:prstGeom prst="rect">
            <a:avLst/>
          </a:prstGeom>
          <a:noFill/>
          <a:ln/>
        </p:spPr>
        <p:txBody>
          <a:bodyPr wrap="square" lIns="0" tIns="0" rIns="0" bIns="0" rtlCol="0" anchor="ctr"/>
          <a:lstStyle/>
          <a:p>
            <a:pPr marL="0" indent="0">
              <a:buNone/>
            </a:pPr>
            <a:r>
              <a:rPr lang="en-US" sz="1000" i="1" dirty="0">
                <a:solidFill>
                  <a:srgbClr val="555B6E"/>
                </a:solidFill>
                <a:latin typeface="DM Sans" pitchFamily="34" charset="0"/>
                <a:ea typeface="DM Sans" pitchFamily="34" charset="-122"/>
                <a:cs typeface="DM Sans" pitchFamily="34" charset="-120"/>
              </a:rPr>
              <a:t>demo version</a:t>
            </a:r>
            <a:endParaRPr lang="en-US" sz="1000" dirty="0"/>
          </a:p>
        </p:txBody>
      </p:sp>
    </p:spTree>
    <p:extLst>
      <p:ext uri="{BB962C8B-B14F-4D97-AF65-F5344CB8AC3E}">
        <p14:creationId xmlns:p14="http://schemas.microsoft.com/office/powerpoint/2010/main" val="935474651"/>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10  ·  PILLAR THREE  ·  STUDENT VIEW</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700" dirty="0">
                <a:solidFill>
                  <a:srgbClr val="0F1F3D"/>
                </a:solidFill>
                <a:latin typeface="Playfair Display" pitchFamily="34" charset="0"/>
                <a:ea typeface="Playfair Display" pitchFamily="34" charset="-122"/>
                <a:cs typeface="Playfair Display" pitchFamily="34" charset="-120"/>
              </a:rPr>
              <a:t>What the BAOR student gets.</a:t>
            </a:r>
            <a:endParaRPr lang="en-US" sz="2700" dirty="0"/>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i="1" dirty="0">
                <a:solidFill>
                  <a:srgbClr val="555B6E"/>
                </a:solidFill>
                <a:latin typeface="DM Sans" pitchFamily="34" charset="0"/>
                <a:ea typeface="DM Sans" pitchFamily="34" charset="-122"/>
                <a:cs typeface="DM Sans" pitchFamily="34" charset="-120"/>
              </a:rPr>
              <a:t>One profile, built once, working across the whole student lifecycle.</a:t>
            </a:r>
            <a:endParaRPr lang="en-US" sz="1300" dirty="0"/>
          </a:p>
        </p:txBody>
      </p:sp>
      <p:sp>
        <p:nvSpPr>
          <p:cNvPr id="6" name="Shape 4"/>
          <p:cNvSpPr/>
          <p:nvPr/>
        </p:nvSpPr>
        <p:spPr>
          <a:xfrm>
            <a:off x="457200" y="1920240"/>
            <a:ext cx="8229600" cy="621792"/>
          </a:xfrm>
          <a:prstGeom prst="rect">
            <a:avLst/>
          </a:prstGeom>
          <a:solidFill>
            <a:srgbClr val="FFFFFF"/>
          </a:solidFill>
          <a:ln w="9525">
            <a:solidFill>
              <a:srgbClr val="CFCCC4"/>
            </a:solidFill>
            <a:prstDash val="solid"/>
          </a:ln>
        </p:spPr>
        <p:txBody>
          <a:bodyPr/>
          <a:lstStyle/>
          <a:p>
            <a:endParaRPr lang="en-US"/>
          </a:p>
        </p:txBody>
      </p:sp>
      <p:sp>
        <p:nvSpPr>
          <p:cNvPr id="7" name="Shape 5"/>
          <p:cNvSpPr/>
          <p:nvPr/>
        </p:nvSpPr>
        <p:spPr>
          <a:xfrm>
            <a:off x="457200" y="1920240"/>
            <a:ext cx="45720" cy="621792"/>
          </a:xfrm>
          <a:prstGeom prst="rect">
            <a:avLst/>
          </a:prstGeom>
          <a:solidFill>
            <a:srgbClr val="C04E1D"/>
          </a:solidFill>
          <a:ln w="12700">
            <a:solidFill>
              <a:srgbClr val="C04E1D"/>
            </a:solidFill>
            <a:prstDash val="solid"/>
          </a:ln>
        </p:spPr>
        <p:txBody>
          <a:bodyPr/>
          <a:lstStyle/>
          <a:p>
            <a:endParaRPr lang="en-US"/>
          </a:p>
        </p:txBody>
      </p:sp>
      <p:sp>
        <p:nvSpPr>
          <p:cNvPr id="8" name="Text 6"/>
          <p:cNvSpPr/>
          <p:nvPr/>
        </p:nvSpPr>
        <p:spPr>
          <a:xfrm>
            <a:off x="658368" y="2011680"/>
            <a:ext cx="3291840" cy="475488"/>
          </a:xfrm>
          <a:prstGeom prst="rect">
            <a:avLst/>
          </a:prstGeom>
          <a:noFill/>
          <a:ln/>
        </p:spPr>
        <p:txBody>
          <a:bodyPr wrap="square" lIns="0" tIns="0" rIns="0" bIns="0" rtlCol="0" anchor="ctr"/>
          <a:lstStyle/>
          <a:p>
            <a:pPr marL="0" indent="0">
              <a:buNone/>
            </a:pPr>
            <a:r>
              <a:rPr lang="en-US" sz="1400" dirty="0">
                <a:solidFill>
                  <a:srgbClr val="0F1F3D"/>
                </a:solidFill>
                <a:latin typeface="Playfair Display" pitchFamily="34" charset="0"/>
                <a:ea typeface="Playfair Display" pitchFamily="34" charset="-122"/>
                <a:cs typeface="Playfair Display" pitchFamily="34" charset="-120"/>
              </a:rPr>
              <a:t>Ranked, explained thesis options</a:t>
            </a:r>
            <a:endParaRPr lang="en-US" sz="1400" dirty="0"/>
          </a:p>
        </p:txBody>
      </p:sp>
      <p:sp>
        <p:nvSpPr>
          <p:cNvPr id="9" name="Text 7"/>
          <p:cNvSpPr/>
          <p:nvPr/>
        </p:nvSpPr>
        <p:spPr>
          <a:xfrm>
            <a:off x="4023360" y="1993392"/>
            <a:ext cx="4526280" cy="512064"/>
          </a:xfrm>
          <a:prstGeom prst="rect">
            <a:avLst/>
          </a:prstGeom>
          <a:noFill/>
          <a:ln/>
        </p:spPr>
        <p:txBody>
          <a:bodyPr wrap="square" lIns="0" tIns="0" rIns="0" bIns="0" rtlCol="0" anchor="ctr"/>
          <a:lstStyle/>
          <a:p>
            <a:pPr marL="0" indent="0">
              <a:lnSpc>
                <a:spcPct val="120000"/>
              </a:lnSpc>
              <a:buNone/>
            </a:pPr>
            <a:r>
              <a:rPr lang="en-US" sz="1100" dirty="0">
                <a:solidFill>
                  <a:srgbClr val="1A1A2E"/>
                </a:solidFill>
                <a:latin typeface="DM Sans" pitchFamily="34" charset="0"/>
                <a:ea typeface="DM Sans" pitchFamily="34" charset="-122"/>
                <a:cs typeface="DM Sans" pitchFamily="34" charset="-120"/>
              </a:rPr>
              <a:t>Topics that fit the student's methods and interests: with the reason for each, not a first-come scramble.</a:t>
            </a:r>
            <a:endParaRPr lang="en-US" sz="1100" dirty="0"/>
          </a:p>
        </p:txBody>
      </p:sp>
      <p:sp>
        <p:nvSpPr>
          <p:cNvPr id="10" name="Shape 8"/>
          <p:cNvSpPr/>
          <p:nvPr/>
        </p:nvSpPr>
        <p:spPr>
          <a:xfrm>
            <a:off x="457200" y="2596896"/>
            <a:ext cx="8229600" cy="621792"/>
          </a:xfrm>
          <a:prstGeom prst="rect">
            <a:avLst/>
          </a:prstGeom>
          <a:solidFill>
            <a:srgbClr val="FFFFFF"/>
          </a:solidFill>
          <a:ln w="9525">
            <a:solidFill>
              <a:srgbClr val="CFCCC4"/>
            </a:solidFill>
            <a:prstDash val="solid"/>
          </a:ln>
        </p:spPr>
        <p:txBody>
          <a:bodyPr/>
          <a:lstStyle/>
          <a:p>
            <a:endParaRPr lang="en-US"/>
          </a:p>
        </p:txBody>
      </p:sp>
      <p:sp>
        <p:nvSpPr>
          <p:cNvPr id="11" name="Shape 9"/>
          <p:cNvSpPr/>
          <p:nvPr/>
        </p:nvSpPr>
        <p:spPr>
          <a:xfrm>
            <a:off x="457200" y="2596896"/>
            <a:ext cx="45720" cy="621792"/>
          </a:xfrm>
          <a:prstGeom prst="rect">
            <a:avLst/>
          </a:prstGeom>
          <a:solidFill>
            <a:srgbClr val="C04E1D"/>
          </a:solidFill>
          <a:ln w="12700">
            <a:solidFill>
              <a:srgbClr val="C04E1D"/>
            </a:solidFill>
            <a:prstDash val="solid"/>
          </a:ln>
        </p:spPr>
        <p:txBody>
          <a:bodyPr/>
          <a:lstStyle/>
          <a:p>
            <a:endParaRPr lang="en-US"/>
          </a:p>
        </p:txBody>
      </p:sp>
      <p:sp>
        <p:nvSpPr>
          <p:cNvPr id="12" name="Text 10"/>
          <p:cNvSpPr/>
          <p:nvPr/>
        </p:nvSpPr>
        <p:spPr>
          <a:xfrm>
            <a:off x="658368" y="2688336"/>
            <a:ext cx="3291840" cy="475488"/>
          </a:xfrm>
          <a:prstGeom prst="rect">
            <a:avLst/>
          </a:prstGeom>
          <a:noFill/>
          <a:ln/>
        </p:spPr>
        <p:txBody>
          <a:bodyPr wrap="square" lIns="0" tIns="0" rIns="0" bIns="0" rtlCol="0" anchor="ctr"/>
          <a:lstStyle/>
          <a:p>
            <a:pPr marL="0" indent="0">
              <a:buNone/>
            </a:pPr>
            <a:r>
              <a:rPr lang="en-US" sz="1400" dirty="0">
                <a:solidFill>
                  <a:srgbClr val="0F1F3D"/>
                </a:solidFill>
                <a:latin typeface="Playfair Display" pitchFamily="34" charset="0"/>
                <a:ea typeface="Playfair Display" pitchFamily="34" charset="-122"/>
                <a:cs typeface="Playfair Display" pitchFamily="34" charset="-120"/>
              </a:rPr>
              <a:t>Ranked, explained job matches</a:t>
            </a:r>
            <a:endParaRPr lang="en-US" sz="1400" dirty="0"/>
          </a:p>
        </p:txBody>
      </p:sp>
      <p:sp>
        <p:nvSpPr>
          <p:cNvPr id="13" name="Text 11"/>
          <p:cNvSpPr/>
          <p:nvPr/>
        </p:nvSpPr>
        <p:spPr>
          <a:xfrm>
            <a:off x="4023360" y="2670048"/>
            <a:ext cx="4526280" cy="512064"/>
          </a:xfrm>
          <a:prstGeom prst="rect">
            <a:avLst/>
          </a:prstGeom>
          <a:noFill/>
          <a:ln/>
        </p:spPr>
        <p:txBody>
          <a:bodyPr wrap="square" lIns="0" tIns="0" rIns="0" bIns="0" rtlCol="0" anchor="ctr"/>
          <a:lstStyle/>
          <a:p>
            <a:pPr marL="0" indent="0">
              <a:lnSpc>
                <a:spcPct val="120000"/>
              </a:lnSpc>
              <a:buNone/>
            </a:pPr>
            <a:r>
              <a:rPr lang="en-US" sz="1100" dirty="0">
                <a:solidFill>
                  <a:srgbClr val="1A1A2E"/>
                </a:solidFill>
                <a:latin typeface="DM Sans" pitchFamily="34" charset="0"/>
                <a:ea typeface="DM Sans" pitchFamily="34" charset="-122"/>
                <a:cs typeface="DM Sans" pitchFamily="34" charset="-120"/>
              </a:rPr>
              <a:t>A short list of roles worth applying to, each with a rationale. No spray-applying.</a:t>
            </a:r>
            <a:endParaRPr lang="en-US" sz="1100" dirty="0"/>
          </a:p>
        </p:txBody>
      </p:sp>
      <p:sp>
        <p:nvSpPr>
          <p:cNvPr id="14" name="Shape 12"/>
          <p:cNvSpPr/>
          <p:nvPr/>
        </p:nvSpPr>
        <p:spPr>
          <a:xfrm>
            <a:off x="457200" y="3273552"/>
            <a:ext cx="8229600" cy="621792"/>
          </a:xfrm>
          <a:prstGeom prst="rect">
            <a:avLst/>
          </a:prstGeom>
          <a:solidFill>
            <a:srgbClr val="FFFFFF"/>
          </a:solidFill>
          <a:ln w="9525">
            <a:solidFill>
              <a:srgbClr val="CFCCC4"/>
            </a:solidFill>
            <a:prstDash val="solid"/>
          </a:ln>
        </p:spPr>
        <p:txBody>
          <a:bodyPr/>
          <a:lstStyle/>
          <a:p>
            <a:endParaRPr lang="en-US"/>
          </a:p>
        </p:txBody>
      </p:sp>
      <p:sp>
        <p:nvSpPr>
          <p:cNvPr id="15" name="Shape 13"/>
          <p:cNvSpPr/>
          <p:nvPr/>
        </p:nvSpPr>
        <p:spPr>
          <a:xfrm>
            <a:off x="457200" y="3273552"/>
            <a:ext cx="45720" cy="621792"/>
          </a:xfrm>
          <a:prstGeom prst="rect">
            <a:avLst/>
          </a:prstGeom>
          <a:solidFill>
            <a:srgbClr val="C04E1D"/>
          </a:solidFill>
          <a:ln w="12700">
            <a:solidFill>
              <a:srgbClr val="C04E1D"/>
            </a:solidFill>
            <a:prstDash val="solid"/>
          </a:ln>
        </p:spPr>
        <p:txBody>
          <a:bodyPr/>
          <a:lstStyle/>
          <a:p>
            <a:endParaRPr lang="en-US"/>
          </a:p>
        </p:txBody>
      </p:sp>
      <p:sp>
        <p:nvSpPr>
          <p:cNvPr id="16" name="Text 14"/>
          <p:cNvSpPr/>
          <p:nvPr/>
        </p:nvSpPr>
        <p:spPr>
          <a:xfrm>
            <a:off x="658368" y="3364992"/>
            <a:ext cx="3291840" cy="475488"/>
          </a:xfrm>
          <a:prstGeom prst="rect">
            <a:avLst/>
          </a:prstGeom>
          <a:noFill/>
          <a:ln/>
        </p:spPr>
        <p:txBody>
          <a:bodyPr wrap="square" lIns="0" tIns="0" rIns="0" bIns="0" rtlCol="0" anchor="ctr"/>
          <a:lstStyle/>
          <a:p>
            <a:pPr marL="0" indent="0">
              <a:buNone/>
            </a:pPr>
            <a:r>
              <a:rPr lang="en-US" sz="1400" dirty="0">
                <a:solidFill>
                  <a:srgbClr val="0F1F3D"/>
                </a:solidFill>
                <a:latin typeface="Playfair Display" pitchFamily="34" charset="0"/>
                <a:ea typeface="Playfair Display" pitchFamily="34" charset="-122"/>
                <a:cs typeface="Playfair Display" pitchFamily="34" charset="-120"/>
              </a:rPr>
              <a:t>A clear view of skills gaps</a:t>
            </a:r>
            <a:endParaRPr lang="en-US" sz="1400" dirty="0"/>
          </a:p>
        </p:txBody>
      </p:sp>
      <p:sp>
        <p:nvSpPr>
          <p:cNvPr id="17" name="Text 15"/>
          <p:cNvSpPr/>
          <p:nvPr/>
        </p:nvSpPr>
        <p:spPr>
          <a:xfrm>
            <a:off x="4023360" y="3346704"/>
            <a:ext cx="4526280" cy="512064"/>
          </a:xfrm>
          <a:prstGeom prst="rect">
            <a:avLst/>
          </a:prstGeom>
          <a:noFill/>
          <a:ln/>
        </p:spPr>
        <p:txBody>
          <a:bodyPr wrap="square" lIns="0" tIns="0" rIns="0" bIns="0" rtlCol="0" anchor="ctr"/>
          <a:lstStyle/>
          <a:p>
            <a:pPr marL="0" indent="0">
              <a:lnSpc>
                <a:spcPct val="120000"/>
              </a:lnSpc>
              <a:buNone/>
            </a:pPr>
            <a:r>
              <a:rPr lang="en-US" sz="1100" dirty="0">
                <a:solidFill>
                  <a:srgbClr val="1A1A2E"/>
                </a:solidFill>
                <a:latin typeface="DM Sans" pitchFamily="34" charset="0"/>
                <a:ea typeface="DM Sans" pitchFamily="34" charset="-122"/>
                <a:cs typeface="DM Sans" pitchFamily="34" charset="-120"/>
              </a:rPr>
              <a:t>What the market asks for, what the student has, and the concrete steps that close the distance.</a:t>
            </a:r>
            <a:endParaRPr lang="en-US" sz="1100" dirty="0"/>
          </a:p>
        </p:txBody>
      </p:sp>
      <p:sp>
        <p:nvSpPr>
          <p:cNvPr id="18" name="Shape 16"/>
          <p:cNvSpPr/>
          <p:nvPr/>
        </p:nvSpPr>
        <p:spPr>
          <a:xfrm>
            <a:off x="457200" y="3950208"/>
            <a:ext cx="8229600" cy="621792"/>
          </a:xfrm>
          <a:prstGeom prst="rect">
            <a:avLst/>
          </a:prstGeom>
          <a:solidFill>
            <a:srgbClr val="FFFFFF"/>
          </a:solidFill>
          <a:ln w="9525">
            <a:solidFill>
              <a:srgbClr val="CFCCC4"/>
            </a:solidFill>
            <a:prstDash val="solid"/>
          </a:ln>
        </p:spPr>
        <p:txBody>
          <a:bodyPr/>
          <a:lstStyle/>
          <a:p>
            <a:endParaRPr lang="en-US"/>
          </a:p>
        </p:txBody>
      </p:sp>
      <p:sp>
        <p:nvSpPr>
          <p:cNvPr id="19" name="Shape 17"/>
          <p:cNvSpPr/>
          <p:nvPr/>
        </p:nvSpPr>
        <p:spPr>
          <a:xfrm>
            <a:off x="457200" y="3950208"/>
            <a:ext cx="45720" cy="621792"/>
          </a:xfrm>
          <a:prstGeom prst="rect">
            <a:avLst/>
          </a:prstGeom>
          <a:solidFill>
            <a:srgbClr val="C04E1D"/>
          </a:solidFill>
          <a:ln w="12700">
            <a:solidFill>
              <a:srgbClr val="C04E1D"/>
            </a:solidFill>
            <a:prstDash val="solid"/>
          </a:ln>
        </p:spPr>
        <p:txBody>
          <a:bodyPr/>
          <a:lstStyle/>
          <a:p>
            <a:endParaRPr lang="en-US"/>
          </a:p>
        </p:txBody>
      </p:sp>
      <p:sp>
        <p:nvSpPr>
          <p:cNvPr id="20" name="Text 18"/>
          <p:cNvSpPr/>
          <p:nvPr/>
        </p:nvSpPr>
        <p:spPr>
          <a:xfrm>
            <a:off x="658368" y="4041648"/>
            <a:ext cx="3291840" cy="475488"/>
          </a:xfrm>
          <a:prstGeom prst="rect">
            <a:avLst/>
          </a:prstGeom>
          <a:noFill/>
          <a:ln/>
        </p:spPr>
        <p:txBody>
          <a:bodyPr wrap="square" lIns="0" tIns="0" rIns="0" bIns="0" rtlCol="0" anchor="ctr"/>
          <a:lstStyle/>
          <a:p>
            <a:pPr marL="0" indent="0">
              <a:buNone/>
            </a:pPr>
            <a:r>
              <a:rPr lang="en-US" sz="1400" dirty="0">
                <a:solidFill>
                  <a:srgbClr val="0F1F3D"/>
                </a:solidFill>
                <a:latin typeface="Playfair Display" pitchFamily="34" charset="0"/>
                <a:ea typeface="Playfair Display" pitchFamily="34" charset="-122"/>
                <a:cs typeface="Playfair Display" pitchFamily="34" charset="-120"/>
              </a:rPr>
              <a:t>Continuity from thesis to first job</a:t>
            </a:r>
            <a:endParaRPr lang="en-US" sz="1400" dirty="0"/>
          </a:p>
        </p:txBody>
      </p:sp>
      <p:sp>
        <p:nvSpPr>
          <p:cNvPr id="21" name="Text 19"/>
          <p:cNvSpPr/>
          <p:nvPr/>
        </p:nvSpPr>
        <p:spPr>
          <a:xfrm>
            <a:off x="4023360" y="4023360"/>
            <a:ext cx="4526280" cy="512064"/>
          </a:xfrm>
          <a:prstGeom prst="rect">
            <a:avLst/>
          </a:prstGeom>
          <a:noFill/>
          <a:ln/>
        </p:spPr>
        <p:txBody>
          <a:bodyPr wrap="square" lIns="0" tIns="0" rIns="0" bIns="0" rtlCol="0" anchor="ctr"/>
          <a:lstStyle/>
          <a:p>
            <a:pPr marL="0" indent="0">
              <a:lnSpc>
                <a:spcPct val="120000"/>
              </a:lnSpc>
              <a:buNone/>
            </a:pPr>
            <a:r>
              <a:rPr lang="en-US" sz="1100" dirty="0">
                <a:solidFill>
                  <a:srgbClr val="1A1A2E"/>
                </a:solidFill>
                <a:latin typeface="DM Sans" pitchFamily="34" charset="0"/>
                <a:ea typeface="DM Sans" pitchFamily="34" charset="-122"/>
                <a:cs typeface="DM Sans" pitchFamily="34" charset="-120"/>
              </a:rPr>
              <a:t>The same profile and the same engine carry the student from topic selection through placement.</a:t>
            </a:r>
            <a:endParaRPr lang="en-US" sz="1100" dirty="0"/>
          </a:p>
        </p:txBody>
      </p:sp>
      <p:sp>
        <p:nvSpPr>
          <p:cNvPr id="22" name="Text 20"/>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11 / 14</a:t>
            </a:r>
            <a:endParaRPr lang="en-US" sz="900" dirty="0"/>
          </a:p>
        </p:txBody>
      </p:sp>
      <p:sp>
        <p:nvSpPr>
          <p:cNvPr id="23" name="Text 21"/>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C5CBD8"/>
                </a:solidFill>
                <a:latin typeface="DM Sans" pitchFamily="34" charset="0"/>
                <a:ea typeface="DM Sans" pitchFamily="34" charset="-122"/>
                <a:cs typeface="DM Sans" pitchFamily="34" charset="-120"/>
              </a:rPr>
              <a:t>11  ·  DATA</a:t>
            </a:r>
            <a:endParaRPr lang="en-US" sz="900" dirty="0"/>
          </a:p>
        </p:txBody>
      </p:sp>
      <p:sp>
        <p:nvSpPr>
          <p:cNvPr id="4" name="Text 2"/>
          <p:cNvSpPr/>
          <p:nvPr/>
        </p:nvSpPr>
        <p:spPr>
          <a:xfrm>
            <a:off x="457200" y="1005840"/>
            <a:ext cx="8229600" cy="731520"/>
          </a:xfrm>
          <a:prstGeom prst="rect">
            <a:avLst/>
          </a:prstGeom>
          <a:noFill/>
          <a:ln/>
        </p:spPr>
        <p:txBody>
          <a:bodyPr wrap="square" lIns="0" tIns="0" rIns="0" bIns="0" rtlCol="0" anchor="ctr"/>
          <a:lstStyle/>
          <a:p>
            <a:pPr marL="0" indent="0">
              <a:buNone/>
            </a:pPr>
            <a:r>
              <a:rPr lang="en-US" sz="3600" i="1" dirty="0">
                <a:solidFill>
                  <a:srgbClr val="FFFFFF"/>
                </a:solidFill>
                <a:latin typeface="Playfair Display" pitchFamily="34" charset="0"/>
                <a:ea typeface="Playfair Display" pitchFamily="34" charset="-122"/>
                <a:cs typeface="Playfair Display" pitchFamily="34" charset="-120"/>
              </a:rPr>
              <a:t>Every match teaches the system.</a:t>
            </a:r>
            <a:endParaRPr lang="en-US" sz="3600" dirty="0"/>
          </a:p>
        </p:txBody>
      </p:sp>
      <p:sp>
        <p:nvSpPr>
          <p:cNvPr id="5" name="Text 3"/>
          <p:cNvSpPr/>
          <p:nvPr/>
        </p:nvSpPr>
        <p:spPr>
          <a:xfrm>
            <a:off x="457200" y="1965960"/>
            <a:ext cx="8229600" cy="1005840"/>
          </a:xfrm>
          <a:prstGeom prst="rect">
            <a:avLst/>
          </a:prstGeom>
          <a:noFill/>
          <a:ln/>
        </p:spPr>
        <p:txBody>
          <a:bodyPr wrap="square" lIns="0" tIns="0" rIns="0" bIns="0" rtlCol="0" anchor="ctr"/>
          <a:lstStyle/>
          <a:p>
            <a:pPr marL="0" indent="0">
              <a:lnSpc>
                <a:spcPct val="150000"/>
              </a:lnSpc>
              <a:buNone/>
            </a:pPr>
            <a:r>
              <a:rPr lang="en-US" sz="1500" dirty="0">
                <a:solidFill>
                  <a:srgbClr val="E8E2D6"/>
                </a:solidFill>
                <a:latin typeface="DM Sans" pitchFamily="34" charset="0"/>
                <a:ea typeface="DM Sans" pitchFamily="34" charset="-122"/>
                <a:cs typeface="DM Sans" pitchFamily="34" charset="-120"/>
              </a:rPr>
              <a:t>Each allocation and each placement feeds a longitudinal record: which student–topic matches produced strong theses, which placements held, what skills the market demanded and when. That record improves every future match, and it is, in itself, a research asset.</a:t>
            </a:r>
            <a:endParaRPr lang="en-US" sz="1500" dirty="0"/>
          </a:p>
        </p:txBody>
      </p:sp>
      <p:sp>
        <p:nvSpPr>
          <p:cNvPr id="6" name="Shape 4"/>
          <p:cNvSpPr/>
          <p:nvPr/>
        </p:nvSpPr>
        <p:spPr>
          <a:xfrm>
            <a:off x="457200" y="3246120"/>
            <a:ext cx="2697480" cy="1371600"/>
          </a:xfrm>
          <a:prstGeom prst="rect">
            <a:avLst/>
          </a:prstGeom>
          <a:solidFill>
            <a:srgbClr val="1A3260">
              <a:alpha val="60000"/>
            </a:srgbClr>
          </a:solidFill>
          <a:ln w="9525">
            <a:solidFill>
              <a:srgbClr val="2A4480"/>
            </a:solidFill>
            <a:prstDash val="solid"/>
          </a:ln>
        </p:spPr>
        <p:txBody>
          <a:bodyPr/>
          <a:lstStyle/>
          <a:p>
            <a:endParaRPr lang="en-US"/>
          </a:p>
        </p:txBody>
      </p:sp>
      <p:sp>
        <p:nvSpPr>
          <p:cNvPr id="7" name="Text 5"/>
          <p:cNvSpPr/>
          <p:nvPr/>
        </p:nvSpPr>
        <p:spPr>
          <a:xfrm>
            <a:off x="640080" y="3383280"/>
            <a:ext cx="2331720" cy="320040"/>
          </a:xfrm>
          <a:prstGeom prst="rect">
            <a:avLst/>
          </a:prstGeom>
          <a:noFill/>
          <a:ln/>
        </p:spPr>
        <p:txBody>
          <a:bodyPr wrap="square" lIns="0" tIns="0" rIns="0" bIns="0" rtlCol="0" anchor="ctr"/>
          <a:lstStyle/>
          <a:p>
            <a:pPr marL="0" indent="0">
              <a:buNone/>
            </a:pPr>
            <a:r>
              <a:rPr lang="en-US" sz="1400" dirty="0">
                <a:solidFill>
                  <a:srgbClr val="D98A66"/>
                </a:solidFill>
                <a:latin typeface="Playfair Display" pitchFamily="34" charset="0"/>
                <a:ea typeface="Playfair Display" pitchFamily="34" charset="-122"/>
                <a:cs typeface="Playfair Display" pitchFamily="34" charset="-120"/>
              </a:rPr>
              <a:t>Better matches</a:t>
            </a:r>
            <a:endParaRPr lang="en-US" sz="1400" dirty="0"/>
          </a:p>
        </p:txBody>
      </p:sp>
      <p:sp>
        <p:nvSpPr>
          <p:cNvPr id="8" name="Text 6"/>
          <p:cNvSpPr/>
          <p:nvPr/>
        </p:nvSpPr>
        <p:spPr>
          <a:xfrm>
            <a:off x="640080" y="3721608"/>
            <a:ext cx="2331720" cy="804672"/>
          </a:xfrm>
          <a:prstGeom prst="rect">
            <a:avLst/>
          </a:prstGeom>
          <a:noFill/>
          <a:ln/>
        </p:spPr>
        <p:txBody>
          <a:bodyPr wrap="square" lIns="0" tIns="0" rIns="0" bIns="0" rtlCol="0" anchor="ctr"/>
          <a:lstStyle/>
          <a:p>
            <a:pPr marL="0" indent="0">
              <a:lnSpc>
                <a:spcPct val="135000"/>
              </a:lnSpc>
              <a:buNone/>
            </a:pPr>
            <a:r>
              <a:rPr lang="en-US" sz="1050" dirty="0">
                <a:solidFill>
                  <a:srgbClr val="D7DCEA"/>
                </a:solidFill>
                <a:latin typeface="DM Sans" pitchFamily="34" charset="0"/>
                <a:ea typeface="DM Sans" pitchFamily="34" charset="-122"/>
                <a:cs typeface="DM Sans" pitchFamily="34" charset="-120"/>
              </a:rPr>
              <a:t>Outcome data tunes the engine. The next cohort's allocation is sharper than this one's.</a:t>
            </a:r>
            <a:endParaRPr lang="en-US" sz="1050" dirty="0"/>
          </a:p>
        </p:txBody>
      </p:sp>
      <p:sp>
        <p:nvSpPr>
          <p:cNvPr id="9" name="Shape 7"/>
          <p:cNvSpPr/>
          <p:nvPr/>
        </p:nvSpPr>
        <p:spPr>
          <a:xfrm>
            <a:off x="3383280" y="3246120"/>
            <a:ext cx="2697480" cy="1371600"/>
          </a:xfrm>
          <a:prstGeom prst="rect">
            <a:avLst/>
          </a:prstGeom>
          <a:solidFill>
            <a:srgbClr val="1A3260">
              <a:alpha val="60000"/>
            </a:srgbClr>
          </a:solidFill>
          <a:ln w="9525">
            <a:solidFill>
              <a:srgbClr val="2A4480"/>
            </a:solidFill>
            <a:prstDash val="solid"/>
          </a:ln>
        </p:spPr>
        <p:txBody>
          <a:bodyPr/>
          <a:lstStyle/>
          <a:p>
            <a:endParaRPr lang="en-US"/>
          </a:p>
        </p:txBody>
      </p:sp>
      <p:sp>
        <p:nvSpPr>
          <p:cNvPr id="10" name="Text 8"/>
          <p:cNvSpPr/>
          <p:nvPr/>
        </p:nvSpPr>
        <p:spPr>
          <a:xfrm>
            <a:off x="3566160" y="3383280"/>
            <a:ext cx="2331720" cy="320040"/>
          </a:xfrm>
          <a:prstGeom prst="rect">
            <a:avLst/>
          </a:prstGeom>
          <a:noFill/>
          <a:ln/>
        </p:spPr>
        <p:txBody>
          <a:bodyPr wrap="square" lIns="0" tIns="0" rIns="0" bIns="0" rtlCol="0" anchor="ctr"/>
          <a:lstStyle/>
          <a:p>
            <a:pPr marL="0" indent="0">
              <a:buNone/>
            </a:pPr>
            <a:r>
              <a:rPr lang="en-US" sz="1400" dirty="0">
                <a:solidFill>
                  <a:srgbClr val="D98A66"/>
                </a:solidFill>
                <a:latin typeface="Playfair Display" pitchFamily="34" charset="0"/>
                <a:ea typeface="Playfair Display" pitchFamily="34" charset="-122"/>
                <a:cs typeface="Playfair Display" pitchFamily="34" charset="-120"/>
              </a:rPr>
              <a:t>Program insight</a:t>
            </a:r>
            <a:endParaRPr lang="en-US" sz="1400" dirty="0"/>
          </a:p>
        </p:txBody>
      </p:sp>
      <p:sp>
        <p:nvSpPr>
          <p:cNvPr id="11" name="Text 9"/>
          <p:cNvSpPr/>
          <p:nvPr/>
        </p:nvSpPr>
        <p:spPr>
          <a:xfrm>
            <a:off x="3566160" y="3721608"/>
            <a:ext cx="2331720" cy="804672"/>
          </a:xfrm>
          <a:prstGeom prst="rect">
            <a:avLst/>
          </a:prstGeom>
          <a:noFill/>
          <a:ln/>
        </p:spPr>
        <p:txBody>
          <a:bodyPr wrap="square" lIns="0" tIns="0" rIns="0" bIns="0" rtlCol="0" anchor="ctr"/>
          <a:lstStyle/>
          <a:p>
            <a:pPr marL="0" indent="0">
              <a:lnSpc>
                <a:spcPct val="135000"/>
              </a:lnSpc>
              <a:buNone/>
            </a:pPr>
            <a:r>
              <a:rPr lang="en-US" sz="1050" dirty="0">
                <a:solidFill>
                  <a:srgbClr val="D7DCEA"/>
                </a:solidFill>
                <a:latin typeface="DM Sans" pitchFamily="34" charset="0"/>
                <a:ea typeface="DM Sans" pitchFamily="34" charset="-122"/>
                <a:cs typeface="DM Sans" pitchFamily="34" charset="-120"/>
              </a:rPr>
              <a:t>Skills-gap and placement signal feed curriculum and advising decisions with evidence.</a:t>
            </a:r>
            <a:endParaRPr lang="en-US" sz="1050" dirty="0"/>
          </a:p>
        </p:txBody>
      </p:sp>
      <p:sp>
        <p:nvSpPr>
          <p:cNvPr id="12" name="Shape 10"/>
          <p:cNvSpPr/>
          <p:nvPr/>
        </p:nvSpPr>
        <p:spPr>
          <a:xfrm>
            <a:off x="6309360" y="3246120"/>
            <a:ext cx="2697480" cy="1371600"/>
          </a:xfrm>
          <a:prstGeom prst="rect">
            <a:avLst/>
          </a:prstGeom>
          <a:solidFill>
            <a:srgbClr val="1A3260">
              <a:alpha val="60000"/>
            </a:srgbClr>
          </a:solidFill>
          <a:ln w="9525">
            <a:solidFill>
              <a:srgbClr val="2A4480"/>
            </a:solidFill>
            <a:prstDash val="solid"/>
          </a:ln>
        </p:spPr>
        <p:txBody>
          <a:bodyPr/>
          <a:lstStyle/>
          <a:p>
            <a:endParaRPr lang="en-US"/>
          </a:p>
        </p:txBody>
      </p:sp>
      <p:sp>
        <p:nvSpPr>
          <p:cNvPr id="13" name="Text 11"/>
          <p:cNvSpPr/>
          <p:nvPr/>
        </p:nvSpPr>
        <p:spPr>
          <a:xfrm>
            <a:off x="6492240" y="3383280"/>
            <a:ext cx="2331720" cy="320040"/>
          </a:xfrm>
          <a:prstGeom prst="rect">
            <a:avLst/>
          </a:prstGeom>
          <a:noFill/>
          <a:ln/>
        </p:spPr>
        <p:txBody>
          <a:bodyPr wrap="square" lIns="0" tIns="0" rIns="0" bIns="0" rtlCol="0" anchor="ctr"/>
          <a:lstStyle/>
          <a:p>
            <a:pPr marL="0" indent="0">
              <a:buNone/>
            </a:pPr>
            <a:r>
              <a:rPr lang="en-US" sz="1400" dirty="0">
                <a:solidFill>
                  <a:srgbClr val="D98A66"/>
                </a:solidFill>
                <a:latin typeface="Playfair Display" pitchFamily="34" charset="0"/>
                <a:ea typeface="Playfair Display" pitchFamily="34" charset="-122"/>
                <a:cs typeface="Playfair Display" pitchFamily="34" charset="-120"/>
              </a:rPr>
              <a:t>Research output</a:t>
            </a:r>
            <a:endParaRPr lang="en-US" sz="1400" dirty="0"/>
          </a:p>
        </p:txBody>
      </p:sp>
      <p:sp>
        <p:nvSpPr>
          <p:cNvPr id="14" name="Text 12"/>
          <p:cNvSpPr/>
          <p:nvPr/>
        </p:nvSpPr>
        <p:spPr>
          <a:xfrm>
            <a:off x="6492240" y="3721608"/>
            <a:ext cx="2331720" cy="804672"/>
          </a:xfrm>
          <a:prstGeom prst="rect">
            <a:avLst/>
          </a:prstGeom>
          <a:noFill/>
          <a:ln/>
        </p:spPr>
        <p:txBody>
          <a:bodyPr wrap="square" lIns="0" tIns="0" rIns="0" bIns="0" rtlCol="0" anchor="ctr"/>
          <a:lstStyle/>
          <a:p>
            <a:pPr marL="0" indent="0">
              <a:lnSpc>
                <a:spcPct val="135000"/>
              </a:lnSpc>
              <a:buNone/>
            </a:pPr>
            <a:r>
              <a:rPr lang="en-US" sz="1050" dirty="0">
                <a:solidFill>
                  <a:srgbClr val="D7DCEA"/>
                </a:solidFill>
                <a:latin typeface="DM Sans" pitchFamily="34" charset="0"/>
                <a:ea typeface="DM Sans" pitchFamily="34" charset="-122"/>
                <a:cs typeface="DM Sans" pitchFamily="34" charset="-120"/>
              </a:rPr>
              <a:t>A dataset on revealed-preference matching under information asymmetry — publishable, and on the department's own line of work.</a:t>
            </a:r>
            <a:endParaRPr lang="en-US" sz="1050" dirty="0"/>
          </a:p>
        </p:txBody>
      </p:sp>
      <p:sp>
        <p:nvSpPr>
          <p:cNvPr id="15" name="Text 13"/>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C5CBD8"/>
                </a:solidFill>
                <a:latin typeface="DM Sans" pitchFamily="34" charset="0"/>
                <a:ea typeface="DM Sans" pitchFamily="34" charset="-122"/>
                <a:cs typeface="DM Sans" pitchFamily="34" charset="-120"/>
              </a:rPr>
              <a:t>12/ 14</a:t>
            </a:r>
            <a:endParaRPr lang="en-US" sz="900" dirty="0"/>
          </a:p>
        </p:txBody>
      </p:sp>
      <p:sp>
        <p:nvSpPr>
          <p:cNvPr id="16" name="Text 14"/>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C5CBD8"/>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4EF"/>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8A8F9E"/>
                </a:solidFill>
                <a:latin typeface="DM Sans" pitchFamily="34" charset="0"/>
                <a:ea typeface="DM Sans" pitchFamily="34" charset="-122"/>
                <a:cs typeface="DM Sans" pitchFamily="34" charset="-120"/>
              </a:rPr>
              <a:t>12  ·  INNOVATION</a:t>
            </a:r>
            <a:endParaRPr lang="en-US" sz="900" dirty="0"/>
          </a:p>
        </p:txBody>
      </p:sp>
      <p:sp>
        <p:nvSpPr>
          <p:cNvPr id="4" name="Text 2"/>
          <p:cNvSpPr/>
          <p:nvPr/>
        </p:nvSpPr>
        <p:spPr>
          <a:xfrm>
            <a:off x="457200" y="868680"/>
            <a:ext cx="8229600" cy="640080"/>
          </a:xfrm>
          <a:prstGeom prst="rect">
            <a:avLst/>
          </a:prstGeom>
          <a:noFill/>
          <a:ln/>
        </p:spPr>
        <p:txBody>
          <a:bodyPr wrap="square" lIns="0" tIns="0" rIns="0" bIns="0" rtlCol="0" anchor="ctr"/>
          <a:lstStyle/>
          <a:p>
            <a:pPr marL="0" indent="0">
              <a:buNone/>
            </a:pPr>
            <a:r>
              <a:rPr lang="en-US" sz="2700" dirty="0">
                <a:solidFill>
                  <a:srgbClr val="0F1F3D"/>
                </a:solidFill>
                <a:latin typeface="Playfair Display" pitchFamily="34" charset="0"/>
                <a:ea typeface="Playfair Display" pitchFamily="34" charset="-122"/>
                <a:cs typeface="Playfair Display" pitchFamily="34" charset="-120"/>
              </a:rPr>
              <a:t>Innovation?</a:t>
            </a:r>
            <a:endParaRPr lang="en-US" sz="2700" dirty="0"/>
          </a:p>
        </p:txBody>
      </p:sp>
      <p:sp>
        <p:nvSpPr>
          <p:cNvPr id="5" name="Shape 3"/>
          <p:cNvSpPr/>
          <p:nvPr/>
        </p:nvSpPr>
        <p:spPr>
          <a:xfrm>
            <a:off x="457200" y="1627632"/>
            <a:ext cx="8229600" cy="548640"/>
          </a:xfrm>
          <a:prstGeom prst="rect">
            <a:avLst/>
          </a:prstGeom>
          <a:solidFill>
            <a:srgbClr val="FFFFFF"/>
          </a:solidFill>
          <a:ln w="9525">
            <a:solidFill>
              <a:srgbClr val="CFCCC4"/>
            </a:solidFill>
            <a:prstDash val="solid"/>
          </a:ln>
        </p:spPr>
        <p:txBody>
          <a:bodyPr/>
          <a:lstStyle/>
          <a:p>
            <a:endParaRPr lang="en-US"/>
          </a:p>
        </p:txBody>
      </p:sp>
      <p:sp>
        <p:nvSpPr>
          <p:cNvPr id="6" name="Shape 4"/>
          <p:cNvSpPr/>
          <p:nvPr/>
        </p:nvSpPr>
        <p:spPr>
          <a:xfrm>
            <a:off x="457200" y="1627632"/>
            <a:ext cx="45720" cy="548640"/>
          </a:xfrm>
          <a:prstGeom prst="rect">
            <a:avLst/>
          </a:prstGeom>
          <a:solidFill>
            <a:srgbClr val="C04E1D"/>
          </a:solidFill>
          <a:ln w="12700">
            <a:solidFill>
              <a:srgbClr val="C04E1D"/>
            </a:solidFill>
            <a:prstDash val="solid"/>
          </a:ln>
        </p:spPr>
        <p:txBody>
          <a:bodyPr/>
          <a:lstStyle/>
          <a:p>
            <a:endParaRPr lang="en-US"/>
          </a:p>
        </p:txBody>
      </p:sp>
      <p:sp>
        <p:nvSpPr>
          <p:cNvPr id="7" name="Text 5"/>
          <p:cNvSpPr/>
          <p:nvPr/>
        </p:nvSpPr>
        <p:spPr>
          <a:xfrm>
            <a:off x="658368" y="1682496"/>
            <a:ext cx="3200400" cy="45720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A first in NL higher education</a:t>
            </a:r>
            <a:endParaRPr lang="en-US" sz="1300" dirty="0"/>
          </a:p>
        </p:txBody>
      </p:sp>
      <p:sp>
        <p:nvSpPr>
          <p:cNvPr id="8" name="Text 6"/>
          <p:cNvSpPr/>
          <p:nvPr/>
        </p:nvSpPr>
        <p:spPr>
          <a:xfrm>
            <a:off x="3931920" y="1673352"/>
            <a:ext cx="4617720" cy="475488"/>
          </a:xfrm>
          <a:prstGeom prst="rect">
            <a:avLst/>
          </a:prstGeom>
          <a:noFill/>
          <a:ln/>
        </p:spPr>
        <p:txBody>
          <a:bodyPr wrap="square" lIns="0" tIns="0" rIns="0" bIns="0" rtlCol="0" anchor="ctr"/>
          <a:lstStyle/>
          <a:p>
            <a:pPr marL="0" indent="0">
              <a:lnSpc>
                <a:spcPct val="115000"/>
              </a:lnSpc>
              <a:buNone/>
            </a:pPr>
            <a:r>
              <a:rPr lang="en-US" sz="1050" dirty="0">
                <a:solidFill>
                  <a:srgbClr val="1A1A2E"/>
                </a:solidFill>
                <a:latin typeface="DM Sans" pitchFamily="34" charset="0"/>
                <a:ea typeface="DM Sans" pitchFamily="34" charset="-122"/>
                <a:cs typeface="DM Sans" pitchFamily="34" charset="-120"/>
              </a:rPr>
              <a:t>The first application of stable-matching mechanism design to an integrated academic-and-career student lifecycle.</a:t>
            </a:r>
            <a:endParaRPr lang="en-US" sz="1050" dirty="0"/>
          </a:p>
        </p:txBody>
      </p:sp>
      <p:sp>
        <p:nvSpPr>
          <p:cNvPr id="9" name="Shape 7"/>
          <p:cNvSpPr/>
          <p:nvPr/>
        </p:nvSpPr>
        <p:spPr>
          <a:xfrm>
            <a:off x="457200" y="2221992"/>
            <a:ext cx="8229600" cy="548640"/>
          </a:xfrm>
          <a:prstGeom prst="rect">
            <a:avLst/>
          </a:prstGeom>
          <a:solidFill>
            <a:srgbClr val="FFFFFF"/>
          </a:solidFill>
          <a:ln w="9525">
            <a:solidFill>
              <a:srgbClr val="CFCCC4"/>
            </a:solidFill>
            <a:prstDash val="solid"/>
          </a:ln>
        </p:spPr>
        <p:txBody>
          <a:bodyPr/>
          <a:lstStyle/>
          <a:p>
            <a:endParaRPr lang="en-US"/>
          </a:p>
        </p:txBody>
      </p:sp>
      <p:sp>
        <p:nvSpPr>
          <p:cNvPr id="10" name="Shape 8"/>
          <p:cNvSpPr/>
          <p:nvPr/>
        </p:nvSpPr>
        <p:spPr>
          <a:xfrm>
            <a:off x="457200" y="2221992"/>
            <a:ext cx="45720" cy="548640"/>
          </a:xfrm>
          <a:prstGeom prst="rect">
            <a:avLst/>
          </a:prstGeom>
          <a:solidFill>
            <a:srgbClr val="C04E1D"/>
          </a:solidFill>
          <a:ln w="12700">
            <a:solidFill>
              <a:srgbClr val="C04E1D"/>
            </a:solidFill>
            <a:prstDash val="solid"/>
          </a:ln>
        </p:spPr>
        <p:txBody>
          <a:bodyPr/>
          <a:lstStyle/>
          <a:p>
            <a:endParaRPr lang="en-US"/>
          </a:p>
        </p:txBody>
      </p:sp>
      <p:sp>
        <p:nvSpPr>
          <p:cNvPr id="11" name="Text 9"/>
          <p:cNvSpPr/>
          <p:nvPr/>
        </p:nvSpPr>
        <p:spPr>
          <a:xfrm>
            <a:off x="658368" y="2276856"/>
            <a:ext cx="3200400" cy="45720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Explainable by construction</a:t>
            </a:r>
            <a:endParaRPr lang="en-US" sz="1300" dirty="0"/>
          </a:p>
        </p:txBody>
      </p:sp>
      <p:sp>
        <p:nvSpPr>
          <p:cNvPr id="12" name="Text 10"/>
          <p:cNvSpPr/>
          <p:nvPr/>
        </p:nvSpPr>
        <p:spPr>
          <a:xfrm>
            <a:off x="3931920" y="2267712"/>
            <a:ext cx="4617720" cy="475488"/>
          </a:xfrm>
          <a:prstGeom prst="rect">
            <a:avLst/>
          </a:prstGeom>
          <a:noFill/>
          <a:ln/>
        </p:spPr>
        <p:txBody>
          <a:bodyPr wrap="square" lIns="0" tIns="0" rIns="0" bIns="0" rtlCol="0" anchor="ctr"/>
          <a:lstStyle/>
          <a:p>
            <a:pPr marL="0" indent="0">
              <a:lnSpc>
                <a:spcPct val="115000"/>
              </a:lnSpc>
              <a:buNone/>
            </a:pPr>
            <a:r>
              <a:rPr lang="en-US" sz="1050" dirty="0">
                <a:solidFill>
                  <a:srgbClr val="1A1A2E"/>
                </a:solidFill>
                <a:latin typeface="DM Sans" pitchFamily="34" charset="0"/>
                <a:ea typeface="DM Sans" pitchFamily="34" charset="-122"/>
                <a:cs typeface="DM Sans" pitchFamily="34" charset="-120"/>
              </a:rPr>
              <a:t>Every match carries a rationale, aligned with the EU AI Act's transparency rules for high-risk systems.</a:t>
            </a:r>
            <a:endParaRPr lang="en-US" sz="1050" dirty="0"/>
          </a:p>
        </p:txBody>
      </p:sp>
      <p:sp>
        <p:nvSpPr>
          <p:cNvPr id="13" name="Shape 11"/>
          <p:cNvSpPr/>
          <p:nvPr/>
        </p:nvSpPr>
        <p:spPr>
          <a:xfrm>
            <a:off x="457200" y="2816352"/>
            <a:ext cx="8229600" cy="548640"/>
          </a:xfrm>
          <a:prstGeom prst="rect">
            <a:avLst/>
          </a:prstGeom>
          <a:solidFill>
            <a:srgbClr val="FFFFFF"/>
          </a:solidFill>
          <a:ln w="9525">
            <a:solidFill>
              <a:srgbClr val="CFCCC4"/>
            </a:solidFill>
            <a:prstDash val="solid"/>
          </a:ln>
        </p:spPr>
        <p:txBody>
          <a:bodyPr/>
          <a:lstStyle/>
          <a:p>
            <a:endParaRPr lang="en-US"/>
          </a:p>
        </p:txBody>
      </p:sp>
      <p:sp>
        <p:nvSpPr>
          <p:cNvPr id="14" name="Shape 12"/>
          <p:cNvSpPr/>
          <p:nvPr/>
        </p:nvSpPr>
        <p:spPr>
          <a:xfrm>
            <a:off x="457200" y="2816352"/>
            <a:ext cx="45720" cy="548640"/>
          </a:xfrm>
          <a:prstGeom prst="rect">
            <a:avLst/>
          </a:prstGeom>
          <a:solidFill>
            <a:srgbClr val="C04E1D"/>
          </a:solidFill>
          <a:ln w="12700">
            <a:solidFill>
              <a:srgbClr val="C04E1D"/>
            </a:solidFill>
            <a:prstDash val="solid"/>
          </a:ln>
        </p:spPr>
        <p:txBody>
          <a:bodyPr/>
          <a:lstStyle/>
          <a:p>
            <a:endParaRPr lang="en-US"/>
          </a:p>
        </p:txBody>
      </p:sp>
      <p:sp>
        <p:nvSpPr>
          <p:cNvPr id="15" name="Text 13"/>
          <p:cNvSpPr/>
          <p:nvPr/>
        </p:nvSpPr>
        <p:spPr>
          <a:xfrm>
            <a:off x="658368" y="2871216"/>
            <a:ext cx="3200400" cy="45720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A research dataset</a:t>
            </a:r>
            <a:endParaRPr lang="en-US" sz="1300" dirty="0"/>
          </a:p>
        </p:txBody>
      </p:sp>
      <p:sp>
        <p:nvSpPr>
          <p:cNvPr id="16" name="Text 14"/>
          <p:cNvSpPr/>
          <p:nvPr/>
        </p:nvSpPr>
        <p:spPr>
          <a:xfrm>
            <a:off x="3931920" y="2862072"/>
            <a:ext cx="4617720" cy="475488"/>
          </a:xfrm>
          <a:prstGeom prst="rect">
            <a:avLst/>
          </a:prstGeom>
          <a:noFill/>
          <a:ln/>
        </p:spPr>
        <p:txBody>
          <a:bodyPr wrap="square" lIns="0" tIns="0" rIns="0" bIns="0" rtlCol="0" anchor="ctr"/>
          <a:lstStyle/>
          <a:p>
            <a:pPr marL="0" indent="0">
              <a:lnSpc>
                <a:spcPct val="115000"/>
              </a:lnSpc>
              <a:buNone/>
            </a:pPr>
            <a:r>
              <a:rPr lang="en-US" sz="1050" dirty="0">
                <a:solidFill>
                  <a:srgbClr val="1A1A2E"/>
                </a:solidFill>
                <a:latin typeface="DM Sans" pitchFamily="34" charset="0"/>
                <a:ea typeface="DM Sans" pitchFamily="34" charset="-122"/>
                <a:cs typeface="DM Sans" pitchFamily="34" charset="-120"/>
              </a:rPr>
              <a:t>Generates publishable data on matching under information asymmetry, on the department's existing research line.</a:t>
            </a:r>
            <a:endParaRPr lang="en-US" sz="1050" dirty="0"/>
          </a:p>
        </p:txBody>
      </p:sp>
      <p:sp>
        <p:nvSpPr>
          <p:cNvPr id="17" name="Shape 15"/>
          <p:cNvSpPr/>
          <p:nvPr/>
        </p:nvSpPr>
        <p:spPr>
          <a:xfrm>
            <a:off x="457200" y="3410712"/>
            <a:ext cx="8229600" cy="548640"/>
          </a:xfrm>
          <a:prstGeom prst="rect">
            <a:avLst/>
          </a:prstGeom>
          <a:solidFill>
            <a:srgbClr val="FFFFFF"/>
          </a:solidFill>
          <a:ln w="9525">
            <a:solidFill>
              <a:srgbClr val="CFCCC4"/>
            </a:solidFill>
            <a:prstDash val="solid"/>
          </a:ln>
        </p:spPr>
        <p:txBody>
          <a:bodyPr/>
          <a:lstStyle/>
          <a:p>
            <a:endParaRPr lang="en-US"/>
          </a:p>
        </p:txBody>
      </p:sp>
      <p:sp>
        <p:nvSpPr>
          <p:cNvPr id="18" name="Shape 16"/>
          <p:cNvSpPr/>
          <p:nvPr/>
        </p:nvSpPr>
        <p:spPr>
          <a:xfrm>
            <a:off x="457200" y="3410712"/>
            <a:ext cx="45720" cy="548640"/>
          </a:xfrm>
          <a:prstGeom prst="rect">
            <a:avLst/>
          </a:prstGeom>
          <a:solidFill>
            <a:srgbClr val="C04E1D"/>
          </a:solidFill>
          <a:ln w="12700">
            <a:solidFill>
              <a:srgbClr val="C04E1D"/>
            </a:solidFill>
            <a:prstDash val="solid"/>
          </a:ln>
        </p:spPr>
        <p:txBody>
          <a:bodyPr/>
          <a:lstStyle/>
          <a:p>
            <a:endParaRPr lang="en-US"/>
          </a:p>
        </p:txBody>
      </p:sp>
      <p:sp>
        <p:nvSpPr>
          <p:cNvPr id="19" name="Text 17"/>
          <p:cNvSpPr/>
          <p:nvPr/>
        </p:nvSpPr>
        <p:spPr>
          <a:xfrm>
            <a:off x="658368" y="3465576"/>
            <a:ext cx="3200400" cy="45720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Replicable across TiSEM</a:t>
            </a:r>
            <a:endParaRPr lang="en-US" sz="1300" dirty="0"/>
          </a:p>
        </p:txBody>
      </p:sp>
      <p:sp>
        <p:nvSpPr>
          <p:cNvPr id="20" name="Text 18"/>
          <p:cNvSpPr/>
          <p:nvPr/>
        </p:nvSpPr>
        <p:spPr>
          <a:xfrm>
            <a:off x="3931920" y="3456432"/>
            <a:ext cx="4617720" cy="475488"/>
          </a:xfrm>
          <a:prstGeom prst="rect">
            <a:avLst/>
          </a:prstGeom>
          <a:noFill/>
          <a:ln/>
        </p:spPr>
        <p:txBody>
          <a:bodyPr wrap="square" lIns="0" tIns="0" rIns="0" bIns="0" rtlCol="0" anchor="ctr"/>
          <a:lstStyle/>
          <a:p>
            <a:pPr marL="0" indent="0">
              <a:lnSpc>
                <a:spcPct val="115000"/>
              </a:lnSpc>
              <a:buNone/>
            </a:pPr>
            <a:r>
              <a:rPr lang="en-US" sz="1050" dirty="0">
                <a:solidFill>
                  <a:srgbClr val="1A1A2E"/>
                </a:solidFill>
                <a:latin typeface="DM Sans" pitchFamily="34" charset="0"/>
                <a:ea typeface="DM Sans" pitchFamily="34" charset="-122"/>
                <a:cs typeface="DM Sans" pitchFamily="34" charset="-120"/>
              </a:rPr>
              <a:t>Built once for BAOR, the architecture extends to every master's programme in the school.</a:t>
            </a:r>
            <a:endParaRPr lang="en-US" sz="1050" dirty="0"/>
          </a:p>
        </p:txBody>
      </p:sp>
      <p:sp>
        <p:nvSpPr>
          <p:cNvPr id="21" name="Shape 19"/>
          <p:cNvSpPr/>
          <p:nvPr/>
        </p:nvSpPr>
        <p:spPr>
          <a:xfrm>
            <a:off x="457200" y="4005072"/>
            <a:ext cx="8229600" cy="548640"/>
          </a:xfrm>
          <a:prstGeom prst="rect">
            <a:avLst/>
          </a:prstGeom>
          <a:solidFill>
            <a:srgbClr val="FFFFFF"/>
          </a:solidFill>
          <a:ln w="9525">
            <a:solidFill>
              <a:srgbClr val="CFCCC4"/>
            </a:solidFill>
            <a:prstDash val="solid"/>
          </a:ln>
        </p:spPr>
        <p:txBody>
          <a:bodyPr/>
          <a:lstStyle/>
          <a:p>
            <a:endParaRPr lang="en-US"/>
          </a:p>
        </p:txBody>
      </p:sp>
      <p:sp>
        <p:nvSpPr>
          <p:cNvPr id="22" name="Shape 20"/>
          <p:cNvSpPr/>
          <p:nvPr/>
        </p:nvSpPr>
        <p:spPr>
          <a:xfrm>
            <a:off x="457200" y="4005072"/>
            <a:ext cx="45720" cy="548640"/>
          </a:xfrm>
          <a:prstGeom prst="rect">
            <a:avLst/>
          </a:prstGeom>
          <a:solidFill>
            <a:srgbClr val="C04E1D"/>
          </a:solidFill>
          <a:ln w="12700">
            <a:solidFill>
              <a:srgbClr val="C04E1D"/>
            </a:solidFill>
            <a:prstDash val="solid"/>
          </a:ln>
        </p:spPr>
        <p:txBody>
          <a:bodyPr/>
          <a:lstStyle/>
          <a:p>
            <a:endParaRPr lang="en-US"/>
          </a:p>
        </p:txBody>
      </p:sp>
      <p:sp>
        <p:nvSpPr>
          <p:cNvPr id="23" name="Text 21"/>
          <p:cNvSpPr/>
          <p:nvPr/>
        </p:nvSpPr>
        <p:spPr>
          <a:xfrm>
            <a:off x="658368" y="4059936"/>
            <a:ext cx="3200400" cy="457200"/>
          </a:xfrm>
          <a:prstGeom prst="rect">
            <a:avLst/>
          </a:prstGeom>
          <a:noFill/>
          <a:ln/>
        </p:spPr>
        <p:txBody>
          <a:bodyPr wrap="square" lIns="0" tIns="0" rIns="0" bIns="0" rtlCol="0" anchor="ctr"/>
          <a:lstStyle/>
          <a:p>
            <a:pPr marL="0" indent="0">
              <a:buNone/>
            </a:pPr>
            <a:r>
              <a:rPr lang="en-US" sz="1300" dirty="0">
                <a:solidFill>
                  <a:srgbClr val="0F1F3D"/>
                </a:solidFill>
                <a:latin typeface="Playfair Display" pitchFamily="34" charset="0"/>
                <a:ea typeface="Playfair Display" pitchFamily="34" charset="-122"/>
                <a:cs typeface="Playfair Display" pitchFamily="34" charset="-120"/>
              </a:rPr>
              <a:t>Concrete operational wins</a:t>
            </a:r>
            <a:endParaRPr lang="en-US" sz="1300" dirty="0"/>
          </a:p>
        </p:txBody>
      </p:sp>
      <p:sp>
        <p:nvSpPr>
          <p:cNvPr id="24" name="Text 22"/>
          <p:cNvSpPr/>
          <p:nvPr/>
        </p:nvSpPr>
        <p:spPr>
          <a:xfrm>
            <a:off x="3931920" y="4050792"/>
            <a:ext cx="4617720" cy="475488"/>
          </a:xfrm>
          <a:prstGeom prst="rect">
            <a:avLst/>
          </a:prstGeom>
          <a:noFill/>
          <a:ln/>
        </p:spPr>
        <p:txBody>
          <a:bodyPr wrap="square" lIns="0" tIns="0" rIns="0" bIns="0" rtlCol="0" anchor="ctr"/>
          <a:lstStyle/>
          <a:p>
            <a:pPr marL="0" indent="0">
              <a:lnSpc>
                <a:spcPct val="115000"/>
              </a:lnSpc>
              <a:buNone/>
            </a:pPr>
            <a:r>
              <a:rPr lang="en-US" sz="1050" dirty="0">
                <a:solidFill>
                  <a:srgbClr val="1A1A2E"/>
                </a:solidFill>
                <a:latin typeface="DM Sans" pitchFamily="34" charset="0"/>
                <a:ea typeface="DM Sans" pitchFamily="34" charset="-122"/>
                <a:cs typeface="DM Sans" pitchFamily="34" charset="-120"/>
              </a:rPr>
              <a:t>Coordinator hours saved, fairer thesis allocation, and measurable placement outcomes from year one.</a:t>
            </a:r>
            <a:endParaRPr lang="en-US" sz="1050" dirty="0"/>
          </a:p>
        </p:txBody>
      </p:sp>
      <p:sp>
        <p:nvSpPr>
          <p:cNvPr id="25" name="Text 23"/>
          <p:cNvSpPr/>
          <p:nvPr/>
        </p:nvSpPr>
        <p:spPr>
          <a:xfrm>
            <a:off x="8275320" y="4777740"/>
            <a:ext cx="777240" cy="228600"/>
          </a:xfrm>
          <a:prstGeom prst="rect">
            <a:avLst/>
          </a:prstGeom>
          <a:noFill/>
          <a:ln/>
        </p:spPr>
        <p:txBody>
          <a:bodyPr wrap="square" lIns="0" tIns="0" rIns="0" bIns="0" rtlCol="0" anchor="ctr"/>
          <a:lstStyle/>
          <a:p>
            <a:pPr marL="0" indent="0" algn="r">
              <a:buNone/>
            </a:pPr>
            <a:r>
              <a:rPr lang="en-US" sz="900" dirty="0">
                <a:solidFill>
                  <a:srgbClr val="8A8F9E"/>
                </a:solidFill>
                <a:latin typeface="DM Sans" pitchFamily="34" charset="0"/>
                <a:ea typeface="DM Sans" pitchFamily="34" charset="-122"/>
                <a:cs typeface="DM Sans" pitchFamily="34" charset="-120"/>
              </a:rPr>
              <a:t>13 / 14</a:t>
            </a:r>
            <a:endParaRPr lang="en-US" sz="900" dirty="0"/>
          </a:p>
        </p:txBody>
      </p:sp>
      <p:sp>
        <p:nvSpPr>
          <p:cNvPr id="26" name="Text 24"/>
          <p:cNvSpPr/>
          <p:nvPr/>
        </p:nvSpPr>
        <p:spPr>
          <a:xfrm>
            <a:off x="457200" y="4777740"/>
            <a:ext cx="5486400" cy="228600"/>
          </a:xfrm>
          <a:prstGeom prst="rect">
            <a:avLst/>
          </a:prstGeom>
          <a:noFill/>
          <a:ln/>
        </p:spPr>
        <p:txBody>
          <a:bodyPr wrap="square" lIns="0" tIns="0" rIns="0" bIns="0" rtlCol="0" anchor="ctr"/>
          <a:lstStyle/>
          <a:p>
            <a:pPr marL="0" indent="0" algn="l">
              <a:buNone/>
            </a:pPr>
            <a:r>
              <a:rPr lang="en-US" sz="800" kern="0" spc="200" dirty="0">
                <a:solidFill>
                  <a:srgbClr val="8A8F9E"/>
                </a:solidFill>
                <a:latin typeface="DM Sans" pitchFamily="34" charset="0"/>
                <a:ea typeface="DM Sans" pitchFamily="34" charset="-122"/>
                <a:cs typeface="DM Sans" pitchFamily="34" charset="-120"/>
              </a:rPr>
              <a:t>BAOR  ×  ROOKIES  ·  INNOVATION PROPOSAL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F3D"/>
        </a:solidFill>
        <a:effectLst/>
      </p:bgPr>
    </p:bg>
    <p:spTree>
      <p:nvGrpSpPr>
        <p:cNvPr id="1" name=""/>
        <p:cNvGrpSpPr/>
        <p:nvPr/>
      </p:nvGrpSpPr>
      <p:grpSpPr>
        <a:xfrm>
          <a:off x="0" y="0"/>
          <a:ext cx="0" cy="0"/>
          <a:chOff x="0" y="0"/>
          <a:chExt cx="0" cy="0"/>
        </a:xfrm>
      </p:grpSpPr>
      <p:sp>
        <p:nvSpPr>
          <p:cNvPr id="2" name="Shape 0"/>
          <p:cNvSpPr/>
          <p:nvPr/>
        </p:nvSpPr>
        <p:spPr>
          <a:xfrm>
            <a:off x="457200" y="530352"/>
            <a:ext cx="73152" cy="73152"/>
          </a:xfrm>
          <a:prstGeom prst="ellipse">
            <a:avLst/>
          </a:prstGeom>
          <a:solidFill>
            <a:srgbClr val="C04E1D"/>
          </a:solidFill>
          <a:ln w="12700">
            <a:solidFill>
              <a:srgbClr val="C04E1D"/>
            </a:solidFill>
            <a:prstDash val="solid"/>
          </a:ln>
        </p:spPr>
        <p:txBody>
          <a:bodyPr/>
          <a:lstStyle/>
          <a:p>
            <a:endParaRPr lang="en-US"/>
          </a:p>
        </p:txBody>
      </p:sp>
      <p:sp>
        <p:nvSpPr>
          <p:cNvPr id="3" name="Text 1"/>
          <p:cNvSpPr/>
          <p:nvPr/>
        </p:nvSpPr>
        <p:spPr>
          <a:xfrm>
            <a:off x="658368" y="457200"/>
            <a:ext cx="5486400" cy="274320"/>
          </a:xfrm>
          <a:prstGeom prst="rect">
            <a:avLst/>
          </a:prstGeom>
          <a:noFill/>
          <a:ln/>
        </p:spPr>
        <p:txBody>
          <a:bodyPr wrap="square" lIns="0" tIns="0" rIns="0" bIns="0" rtlCol="0" anchor="ctr"/>
          <a:lstStyle/>
          <a:p>
            <a:pPr marL="0" indent="0">
              <a:buNone/>
            </a:pPr>
            <a:r>
              <a:rPr lang="en-US" sz="900" b="1" kern="0" spc="500" dirty="0">
                <a:solidFill>
                  <a:srgbClr val="C5CBD8"/>
                </a:solidFill>
                <a:latin typeface="DM Sans" pitchFamily="34" charset="0"/>
                <a:ea typeface="DM Sans" pitchFamily="34" charset="-122"/>
                <a:cs typeface="DM Sans" pitchFamily="34" charset="-120"/>
              </a:rPr>
              <a:t>13  ·  VISION</a:t>
            </a:r>
            <a:endParaRPr lang="en-US" sz="900" dirty="0"/>
          </a:p>
        </p:txBody>
      </p:sp>
      <p:sp>
        <p:nvSpPr>
          <p:cNvPr id="4" name="Shape 2"/>
          <p:cNvSpPr/>
          <p:nvPr/>
        </p:nvSpPr>
        <p:spPr>
          <a:xfrm>
            <a:off x="-2286000" y="3108960"/>
            <a:ext cx="4937760" cy="4937760"/>
          </a:xfrm>
          <a:prstGeom prst="ellipse">
            <a:avLst/>
          </a:prstGeom>
          <a:solidFill>
            <a:srgbClr val="C04E1D">
              <a:alpha val="10000"/>
            </a:srgbClr>
          </a:solidFill>
          <a:ln w="12700">
            <a:solidFill>
              <a:srgbClr val="C04E1D">
                <a:alpha val="0"/>
              </a:srgbClr>
            </a:solidFill>
            <a:prstDash val="solid"/>
          </a:ln>
        </p:spPr>
        <p:txBody>
          <a:bodyPr/>
          <a:lstStyle/>
          <a:p>
            <a:endParaRPr lang="en-US"/>
          </a:p>
        </p:txBody>
      </p:sp>
      <p:sp>
        <p:nvSpPr>
          <p:cNvPr id="5" name="Text 3"/>
          <p:cNvSpPr/>
          <p:nvPr/>
        </p:nvSpPr>
        <p:spPr>
          <a:xfrm>
            <a:off x="457200" y="1280160"/>
            <a:ext cx="8229600" cy="1371600"/>
          </a:xfrm>
          <a:prstGeom prst="rect">
            <a:avLst/>
          </a:prstGeom>
          <a:noFill/>
          <a:ln/>
        </p:spPr>
        <p:txBody>
          <a:bodyPr wrap="square" lIns="0" tIns="0" rIns="0" bIns="0" rtlCol="0" anchor="ctr"/>
          <a:lstStyle/>
          <a:p>
            <a:pPr marL="0" indent="0">
              <a:lnSpc>
                <a:spcPct val="108000"/>
              </a:lnSpc>
              <a:buNone/>
            </a:pPr>
            <a:r>
              <a:rPr lang="en-US" sz="3800" i="1" dirty="0">
                <a:solidFill>
                  <a:srgbClr val="FFFFFF"/>
                </a:solidFill>
                <a:latin typeface="Playfair Display" pitchFamily="34" charset="0"/>
                <a:ea typeface="Playfair Display" pitchFamily="34" charset="-122"/>
                <a:cs typeface="Playfair Display" pitchFamily="34" charset="-120"/>
              </a:rPr>
              <a:t>The first programme with a</a:t>
            </a:r>
            <a:endParaRPr lang="en-US" sz="3800" dirty="0"/>
          </a:p>
          <a:p>
            <a:pPr marL="0" indent="0">
              <a:lnSpc>
                <a:spcPct val="108000"/>
              </a:lnSpc>
              <a:buNone/>
            </a:pPr>
            <a:r>
              <a:rPr lang="en-US" sz="3800" i="1" dirty="0">
                <a:solidFill>
                  <a:srgbClr val="FFFFFF"/>
                </a:solidFill>
                <a:latin typeface="Playfair Display" pitchFamily="34" charset="0"/>
                <a:ea typeface="Playfair Display" pitchFamily="34" charset="-122"/>
                <a:cs typeface="Playfair Display" pitchFamily="34" charset="-120"/>
              </a:rPr>
              <a:t>matched student lifecycle.</a:t>
            </a:r>
            <a:endParaRPr lang="en-US" sz="3800" dirty="0"/>
          </a:p>
        </p:txBody>
      </p:sp>
      <p:sp>
        <p:nvSpPr>
          <p:cNvPr id="6" name="Text 4"/>
          <p:cNvSpPr/>
          <p:nvPr/>
        </p:nvSpPr>
        <p:spPr>
          <a:xfrm>
            <a:off x="457200" y="2971800"/>
            <a:ext cx="8046720" cy="1097280"/>
          </a:xfrm>
          <a:prstGeom prst="rect">
            <a:avLst/>
          </a:prstGeom>
          <a:noFill/>
          <a:ln/>
        </p:spPr>
        <p:txBody>
          <a:bodyPr wrap="square" lIns="0" tIns="0" rIns="0" bIns="0" rtlCol="0" anchor="ctr"/>
          <a:lstStyle/>
          <a:p>
            <a:pPr marL="0" indent="0">
              <a:lnSpc>
                <a:spcPct val="150000"/>
              </a:lnSpc>
              <a:buNone/>
            </a:pPr>
            <a:r>
              <a:rPr lang="en-US" sz="1500" dirty="0">
                <a:solidFill>
                  <a:srgbClr val="E8E2D6"/>
                </a:solidFill>
                <a:latin typeface="DM Sans" pitchFamily="34" charset="0"/>
                <a:ea typeface="DM Sans" pitchFamily="34" charset="-122"/>
                <a:cs typeface="DM Sans" pitchFamily="34" charset="-120"/>
              </a:rPr>
              <a:t>From the first thesis topic to the first job, every BAOR student allocated by the same mathematics the department teaches. Better outcomes for students, fewer manual hours for coordinators, and a dataset that turns the programme's own operations into research.</a:t>
            </a:r>
            <a:endParaRPr lang="en-US" sz="15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marL="0" indent="0">
              <a:buNone/>
            </a:pPr>
            <a:r>
              <a:rPr lang="en-US" sz="1000" kern="0" spc="300" dirty="0">
                <a:solidFill>
                  <a:srgbClr val="8AA1C5"/>
                </a:solidFill>
                <a:latin typeface="DM Sans" pitchFamily="34" charset="0"/>
                <a:ea typeface="DM Sans" pitchFamily="34" charset="-122"/>
                <a:cs typeface="DM Sans" pitchFamily="34" charset="-120"/>
              </a:rPr>
              <a:t>BAOR  ×  Rookies  ·  TiSEM, Tilburg University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84</TotalTime>
  <Words>1297</Words>
  <Application>Microsoft Macintosh PowerPoint</Application>
  <PresentationFormat>On-screen Show (16:9)</PresentationFormat>
  <Paragraphs>149</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DM Sans</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BAOR Integrated Matching System — Innovation Proposal</dc:title>
  <dc:subject>PptxGenJS Presentation</dc:subject>
  <dc:creator>Dan Toma Poenaru</dc:creator>
  <cp:lastModifiedBy>Dan Poenaru</cp:lastModifiedBy>
  <cp:revision>15</cp:revision>
  <dcterms:created xsi:type="dcterms:W3CDTF">2026-06-02T13:10:51Z</dcterms:created>
  <dcterms:modified xsi:type="dcterms:W3CDTF">2026-06-02T17:35:11Z</dcterms:modified>
</cp:coreProperties>
</file>